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</p:sldIdLst>
  <p:sldSz cx="18288000" cy="10287000"/>
  <p:notesSz cx="6858000" cy="9144000"/>
  <p:embeddedFontLst>
    <p:embeddedFont>
      <p:font typeface="Cormorant Garamond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944" y="-8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0.jp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8.jpe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19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8.jpe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19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8.jpeg"/><Relationship Id="rId3" Type="http://schemas.openxmlformats.org/officeDocument/2006/relationships/image" Target="../media/image2.svg"/><Relationship Id="rId21" Type="http://schemas.openxmlformats.org/officeDocument/2006/relationships/image" Target="../media/image32.pn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19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8.jpeg"/><Relationship Id="rId3" Type="http://schemas.openxmlformats.org/officeDocument/2006/relationships/image" Target="../media/image2.svg"/><Relationship Id="rId21" Type="http://schemas.openxmlformats.org/officeDocument/2006/relationships/image" Target="../media/image32.pn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23" Type="http://schemas.openxmlformats.org/officeDocument/2006/relationships/image" Target="../media/image34.svg"/><Relationship Id="rId10" Type="http://schemas.openxmlformats.org/officeDocument/2006/relationships/image" Target="../media/image16.png"/><Relationship Id="rId19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Relationship Id="rId22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jpg"/><Relationship Id="rId18" Type="http://schemas.openxmlformats.org/officeDocument/2006/relationships/image" Target="../media/image28.jpeg"/><Relationship Id="rId3" Type="http://schemas.openxmlformats.org/officeDocument/2006/relationships/image" Target="../media/image2.svg"/><Relationship Id="rId21" Type="http://schemas.openxmlformats.org/officeDocument/2006/relationships/image" Target="../media/image33.png"/><Relationship Id="rId7" Type="http://schemas.openxmlformats.org/officeDocument/2006/relationships/image" Target="../media/image13.svg"/><Relationship Id="rId12" Type="http://schemas.openxmlformats.org/officeDocument/2006/relationships/image" Target="../media/image21.jpg"/><Relationship Id="rId17" Type="http://schemas.openxmlformats.org/officeDocument/2006/relationships/image" Target="../media/image26.jpg"/><Relationship Id="rId2" Type="http://schemas.openxmlformats.org/officeDocument/2006/relationships/image" Target="../media/image1.png"/><Relationship Id="rId16" Type="http://schemas.openxmlformats.org/officeDocument/2006/relationships/image" Target="../media/image25.jp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19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Relationship Id="rId14" Type="http://schemas.openxmlformats.org/officeDocument/2006/relationships/image" Target="../media/image24.jpg"/><Relationship Id="rId22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735" y="3885180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387927" y="7051"/>
            <a:ext cx="2356539" cy="2896428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706" y="411022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514600" y="9479108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-11065469" y="-3105530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tumors are dangerous and early diagnosis is critical.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MRI images is time-consuming and error-prone.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tools are often costly and not user-friendly.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web-based solution for fast, accurate classification of brain tumors.</a:t>
            </a:r>
          </a:p>
          <a:p>
            <a:endParaRPr lang="en-US" dirty="0"/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9D4CE986-0B86-74EF-6E44-2E850D16D777}"/>
              </a:ext>
            </a:extLst>
          </p:cNvPr>
          <p:cNvGrpSpPr/>
          <p:nvPr/>
        </p:nvGrpSpPr>
        <p:grpSpPr>
          <a:xfrm>
            <a:off x="14735" y="-5286329"/>
            <a:ext cx="5632007" cy="1767628"/>
            <a:chOff x="0" y="0"/>
            <a:chExt cx="4816593" cy="1079700"/>
          </a:xfrm>
          <a:solidFill>
            <a:srgbClr val="00206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F4022EB-E43B-A82C-1230-7015F03DEE05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E37483F6-7076-969F-ABCD-ABA7C6A24696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 dirty="0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-2513334" y="-49310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</p:txBody>
      </p: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0200" y="-929861"/>
            <a:ext cx="8026130" cy="53507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0" y="2984134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48679" y="1788497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043764" y="11097193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25630" y="120015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359113" y="9391957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21272365" y="3383651"/>
            <a:ext cx="2356539" cy="289642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28656A-8D02-41B8-995C-D87F5293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65" y="6945989"/>
            <a:ext cx="3048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039A7E9-DF03-D63E-D6B7-3E923BE6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365" y="7074828"/>
            <a:ext cx="3733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 Lamea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Banan Obiedat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Nadia Khair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Saja Zreqat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476831" y="11097193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409446" y="2809222"/>
            <a:ext cx="12058713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tumors are dangerous and early diagnosis is critical.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MRI images is time-consuming and error-prone.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tools are often costly and not user-friendly.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web-based solution for fast, accurate classification of brain tumors.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410C7B-BBDC-F61C-BB95-25266E7FFF1D}"/>
              </a:ext>
            </a:extLst>
          </p:cNvPr>
          <p:cNvGrpSpPr/>
          <p:nvPr/>
        </p:nvGrpSpPr>
        <p:grpSpPr>
          <a:xfrm>
            <a:off x="-2590800" y="33551"/>
            <a:ext cx="10515600" cy="1767628"/>
            <a:chOff x="-2513334" y="-5286329"/>
            <a:chExt cx="10515600" cy="1767628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9D4CE986-0B86-74EF-6E44-2E850D16D777}"/>
                </a:ext>
              </a:extLst>
            </p:cNvPr>
            <p:cNvGrpSpPr/>
            <p:nvPr/>
          </p:nvGrpSpPr>
          <p:grpSpPr>
            <a:xfrm>
              <a:off x="14735" y="-5286329"/>
              <a:ext cx="5632007" cy="1767628"/>
              <a:chOff x="0" y="0"/>
              <a:chExt cx="4816593" cy="1079700"/>
            </a:xfrm>
            <a:solidFill>
              <a:srgbClr val="002060"/>
            </a:solidFill>
          </p:grpSpPr>
          <p:sp>
            <p:nvSpPr>
              <p:cNvPr id="20" name="Freeform 3">
                <a:extLst>
                  <a:ext uri="{FF2B5EF4-FFF2-40B4-BE49-F238E27FC236}">
                    <a16:creationId xmlns:a16="http://schemas.microsoft.com/office/drawing/2014/main" id="{7F4022EB-E43B-A82C-1230-7015F03DEE0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07970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07970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079700"/>
                    </a:lnTo>
                    <a:lnTo>
                      <a:pt x="0" y="107970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21" name="TextBox 4">
                <a:extLst>
                  <a:ext uri="{FF2B5EF4-FFF2-40B4-BE49-F238E27FC236}">
                    <a16:creationId xmlns:a16="http://schemas.microsoft.com/office/drawing/2014/main" id="{E37483F6-7076-969F-ABCD-ABA7C6A2469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816593" cy="112732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93"/>
                  </a:lnSpc>
                </a:pPr>
                <a:endParaRPr/>
              </a:p>
            </p:txBody>
          </p:sp>
        </p:grpSp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987D8B92-53F6-974C-B44D-4FB3B27D3A2D}"/>
                </a:ext>
              </a:extLst>
            </p:cNvPr>
            <p:cNvSpPr txBox="1">
              <a:spLocks/>
            </p:cNvSpPr>
            <p:nvPr/>
          </p:nvSpPr>
          <p:spPr>
            <a:xfrm>
              <a:off x="-2513334" y="-4931036"/>
              <a:ext cx="10515600" cy="1325563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 </a:t>
              </a:r>
            </a:p>
          </p:txBody>
        </p:sp>
      </p:grp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467" y="5388693"/>
            <a:ext cx="6361021" cy="4240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9CE3D-FBB3-33F1-3F78-D52DEF6BEDD6}"/>
              </a:ext>
            </a:extLst>
          </p:cNvPr>
          <p:cNvSpPr txBox="1">
            <a:spLocks/>
          </p:cNvSpPr>
          <p:nvPr/>
        </p:nvSpPr>
        <p:spPr>
          <a:xfrm>
            <a:off x="-15746758" y="-8408378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A1C7AE-C2FD-455F-541F-667B88EE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56173" y="-7424232"/>
            <a:ext cx="50339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</a:rPr>
              <a:t>This dataset contains </a:t>
            </a:r>
            <a:r>
              <a:rPr lang="en-US" sz="1200" b="1" dirty="0">
                <a:solidFill>
                  <a:srgbClr val="3C4043"/>
                </a:solidFill>
                <a:latin typeface="Inter"/>
              </a:rPr>
              <a:t>7023</a:t>
            </a:r>
            <a:r>
              <a:rPr lang="en-US" sz="1200" dirty="0">
                <a:solidFill>
                  <a:srgbClr val="3C4043"/>
                </a:solidFill>
                <a:latin typeface="Inter"/>
              </a:rPr>
              <a:t> images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  <a:cs typeface="Times New Roman" panose="02020603050405020304" pitchFamily="18" charset="0"/>
              </a:rPr>
              <a:t>5712 Training</a:t>
            </a:r>
            <a:endParaRPr lang="en-US" sz="1800" dirty="0">
              <a:solidFill>
                <a:srgbClr val="3C40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2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38787E-7091-3996-324D-DB91E464F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95326" y="-4911965"/>
            <a:ext cx="5673116" cy="29964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F07CFB-E218-F68B-3FE5-542CD9081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/>
          <a:stretch/>
        </p:blipFill>
        <p:spPr>
          <a:xfrm>
            <a:off x="-11049000" y="-7658100"/>
            <a:ext cx="6656042" cy="412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8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0" y="2984134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48679" y="1788497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043764" y="11097193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25630" y="120015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359113" y="9391957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21272365" y="3383651"/>
            <a:ext cx="2356539" cy="289642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28656A-8D02-41B8-995C-D87F5293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65" y="6945989"/>
            <a:ext cx="3048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039A7E9-DF03-D63E-D6B7-3E923BE6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365" y="7074828"/>
            <a:ext cx="3733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 Lamea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Banan Obiedat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Nadia Khair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Saja Zreqat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476831" y="11097193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1043764" y="2318183"/>
            <a:ext cx="7210554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endParaRPr lang="ar-JO" sz="4000" b="1" dirty="0">
              <a:solidFill>
                <a:srgbClr val="0147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 7023 images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5712 Training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  <a:br>
              <a:rPr lang="ar-J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410C7B-BBDC-F61C-BB95-25266E7FFF1D}"/>
              </a:ext>
            </a:extLst>
          </p:cNvPr>
          <p:cNvGrpSpPr/>
          <p:nvPr/>
        </p:nvGrpSpPr>
        <p:grpSpPr>
          <a:xfrm>
            <a:off x="-2590800" y="33551"/>
            <a:ext cx="10515600" cy="1767628"/>
            <a:chOff x="-2513334" y="-5286329"/>
            <a:chExt cx="10515600" cy="1767628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9D4CE986-0B86-74EF-6E44-2E850D16D777}"/>
                </a:ext>
              </a:extLst>
            </p:cNvPr>
            <p:cNvGrpSpPr/>
            <p:nvPr/>
          </p:nvGrpSpPr>
          <p:grpSpPr>
            <a:xfrm>
              <a:off x="14735" y="-5286329"/>
              <a:ext cx="5632007" cy="1767628"/>
              <a:chOff x="0" y="0"/>
              <a:chExt cx="4816593" cy="1079700"/>
            </a:xfrm>
            <a:solidFill>
              <a:srgbClr val="002060"/>
            </a:solidFill>
          </p:grpSpPr>
          <p:sp>
            <p:nvSpPr>
              <p:cNvPr id="20" name="Freeform 3">
                <a:extLst>
                  <a:ext uri="{FF2B5EF4-FFF2-40B4-BE49-F238E27FC236}">
                    <a16:creationId xmlns:a16="http://schemas.microsoft.com/office/drawing/2014/main" id="{7F4022EB-E43B-A82C-1230-7015F03DEE0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07970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07970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079700"/>
                    </a:lnTo>
                    <a:lnTo>
                      <a:pt x="0" y="107970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21" name="TextBox 4">
                <a:extLst>
                  <a:ext uri="{FF2B5EF4-FFF2-40B4-BE49-F238E27FC236}">
                    <a16:creationId xmlns:a16="http://schemas.microsoft.com/office/drawing/2014/main" id="{E37483F6-7076-969F-ABCD-ABA7C6A2469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816593" cy="112732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93"/>
                  </a:lnSpc>
                </a:pPr>
                <a:endParaRPr/>
              </a:p>
            </p:txBody>
          </p:sp>
        </p:grpSp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987D8B92-53F6-974C-B44D-4FB3B27D3A2D}"/>
                </a:ext>
              </a:extLst>
            </p:cNvPr>
            <p:cNvSpPr txBox="1">
              <a:spLocks/>
            </p:cNvSpPr>
            <p:nvPr/>
          </p:nvSpPr>
          <p:spPr>
            <a:xfrm>
              <a:off x="-2513334" y="-4931036"/>
              <a:ext cx="10515600" cy="1325563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</a:t>
              </a:r>
            </a:p>
          </p:txBody>
        </p:sp>
      </p:grp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518" y="12443117"/>
            <a:ext cx="6361021" cy="4240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9CE3D-FBB3-33F1-3F78-D52DEF6BEDD6}"/>
              </a:ext>
            </a:extLst>
          </p:cNvPr>
          <p:cNvSpPr txBox="1">
            <a:spLocks/>
          </p:cNvSpPr>
          <p:nvPr/>
        </p:nvSpPr>
        <p:spPr>
          <a:xfrm>
            <a:off x="20355154" y="298413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A1C7AE-C2FD-455F-541F-667B88EE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0634" y="2962076"/>
            <a:ext cx="50339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</a:rPr>
              <a:t>This dataset contains </a:t>
            </a:r>
            <a:r>
              <a:rPr lang="en-US" sz="1200" b="1" dirty="0">
                <a:solidFill>
                  <a:srgbClr val="3C4043"/>
                </a:solidFill>
                <a:latin typeface="Inter"/>
              </a:rPr>
              <a:t>7023</a:t>
            </a:r>
            <a:r>
              <a:rPr lang="en-US" sz="1200" dirty="0">
                <a:solidFill>
                  <a:srgbClr val="3C4043"/>
                </a:solidFill>
                <a:latin typeface="Inter"/>
              </a:rPr>
              <a:t> images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  <a:cs typeface="Times New Roman" panose="02020603050405020304" pitchFamily="18" charset="0"/>
              </a:rPr>
              <a:t>5712 Training</a:t>
            </a:r>
            <a:endParaRPr lang="en-US" sz="1800" dirty="0">
              <a:solidFill>
                <a:srgbClr val="3C40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2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38787E-7091-3996-324D-DB91E464F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514" y="5737705"/>
            <a:ext cx="8114971" cy="42862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F07CFB-E218-F68B-3FE5-542CD9081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/>
          <a:stretch/>
        </p:blipFill>
        <p:spPr>
          <a:xfrm>
            <a:off x="10982731" y="1058663"/>
            <a:ext cx="6656042" cy="4128720"/>
          </a:xfrm>
          <a:prstGeom prst="rect">
            <a:avLst/>
          </a:prstGeom>
        </p:spPr>
      </p:pic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-20421599" y="13355898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>
            <a:off x="-20421600" y="13296900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7264887" y="14439245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1D6962A-033D-4224-4CF7-72B48C675C59}"/>
              </a:ext>
            </a:extLst>
          </p:cNvPr>
          <p:cNvSpPr txBox="1">
            <a:spLocks/>
          </p:cNvSpPr>
          <p:nvPr/>
        </p:nvSpPr>
        <p:spPr>
          <a:xfrm>
            <a:off x="-17918261" y="-395346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34A666-33FD-12C5-8856-98F5090CE228}"/>
              </a:ext>
            </a:extLst>
          </p:cNvPr>
          <p:cNvSpPr txBox="1">
            <a:spLocks/>
          </p:cNvSpPr>
          <p:nvPr/>
        </p:nvSpPr>
        <p:spPr>
          <a:xfrm>
            <a:off x="-17918261" y="-2492966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124x124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to prevent overfitting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856563-9EF1-8C53-4F1F-81F4E59A84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2601796" y="-2264546"/>
            <a:ext cx="6097738" cy="6363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F430E4C6-384D-0C23-D597-C2563451FA8F}"/>
              </a:ext>
            </a:extLst>
          </p:cNvPr>
          <p:cNvSpPr/>
          <p:nvPr/>
        </p:nvSpPr>
        <p:spPr>
          <a:xfrm>
            <a:off x="-20149618" y="-1366333"/>
            <a:ext cx="3430682" cy="3107026"/>
          </a:xfrm>
          <a:prstGeom prst="flowChartConnector">
            <a:avLst/>
          </a:prstGeom>
          <a:solidFill>
            <a:srgbClr val="014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F4BD4AD-2D25-3FC1-012B-DB37AB01C0BF}"/>
              </a:ext>
            </a:extLst>
          </p:cNvPr>
          <p:cNvSpPr/>
          <p:nvPr/>
        </p:nvSpPr>
        <p:spPr>
          <a:xfrm>
            <a:off x="-16375707" y="-1305847"/>
            <a:ext cx="3430682" cy="3107026"/>
          </a:xfrm>
          <a:prstGeom prst="flowChartConnector">
            <a:avLst/>
          </a:prstGeom>
          <a:solidFill>
            <a:srgbClr val="014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BF71E95-EDF5-3303-EFDF-1E85603D33D0}"/>
              </a:ext>
            </a:extLst>
          </p:cNvPr>
          <p:cNvSpPr/>
          <p:nvPr/>
        </p:nvSpPr>
        <p:spPr>
          <a:xfrm>
            <a:off x="-20067918" y="1969732"/>
            <a:ext cx="3430682" cy="3107026"/>
          </a:xfrm>
          <a:prstGeom prst="flowChartConnector">
            <a:avLst/>
          </a:prstGeom>
          <a:solidFill>
            <a:srgbClr val="014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0F70281C-B9B5-7CE2-923A-C744D24AF809}"/>
              </a:ext>
            </a:extLst>
          </p:cNvPr>
          <p:cNvSpPr/>
          <p:nvPr/>
        </p:nvSpPr>
        <p:spPr>
          <a:xfrm>
            <a:off x="-16258472" y="2000744"/>
            <a:ext cx="3430682" cy="3107026"/>
          </a:xfrm>
          <a:prstGeom prst="flowChartConnector">
            <a:avLst/>
          </a:prstGeom>
          <a:solidFill>
            <a:srgbClr val="014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FB5F58-6891-D4D6-8615-7ACD700521AC}"/>
              </a:ext>
            </a:extLst>
          </p:cNvPr>
          <p:cNvSpPr txBox="1"/>
          <p:nvPr/>
        </p:nvSpPr>
        <p:spPr>
          <a:xfrm>
            <a:off x="-19907300" y="-351170"/>
            <a:ext cx="2946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Cropping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B8E666-CF9D-FD2B-5516-FD32F4DB5F7B}"/>
              </a:ext>
            </a:extLst>
          </p:cNvPr>
          <p:cNvSpPr txBox="1"/>
          <p:nvPr/>
        </p:nvSpPr>
        <p:spPr>
          <a:xfrm>
            <a:off x="-16258472" y="-536095"/>
            <a:ext cx="29460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 to 124x124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F50CC0-30B4-F61A-81D9-E98D3D33CA7E}"/>
              </a:ext>
            </a:extLst>
          </p:cNvPr>
          <p:cNvSpPr txBox="1"/>
          <p:nvPr/>
        </p:nvSpPr>
        <p:spPr>
          <a:xfrm>
            <a:off x="-20694804" y="3026026"/>
            <a:ext cx="4179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6283C-DF8E-A8AA-8C07-0C9905293BFD}"/>
              </a:ext>
            </a:extLst>
          </p:cNvPr>
          <p:cNvSpPr txBox="1"/>
          <p:nvPr/>
        </p:nvSpPr>
        <p:spPr>
          <a:xfrm>
            <a:off x="-16695126" y="2431135"/>
            <a:ext cx="39714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to prevent overfitting</a:t>
            </a:r>
          </a:p>
        </p:txBody>
      </p:sp>
    </p:spTree>
    <p:extLst>
      <p:ext uri="{BB962C8B-B14F-4D97-AF65-F5344CB8AC3E}">
        <p14:creationId xmlns:p14="http://schemas.microsoft.com/office/powerpoint/2010/main" val="304962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0" y="2984134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48679" y="1788497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043764" y="11097193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25630" y="120015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359113" y="9391957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21272365" y="3383651"/>
            <a:ext cx="2356539" cy="289642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28656A-8D02-41B8-995C-D87F5293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65" y="6945989"/>
            <a:ext cx="3048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039A7E9-DF03-D63E-D6B7-3E923BE6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365" y="7074828"/>
            <a:ext cx="3733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 Lamea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Banan Obiedat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Nadia Khair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Saja Zreqat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476831" y="11097193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11448341" y="11397724"/>
            <a:ext cx="7210554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endParaRPr lang="ar-JO" sz="4000" b="1" dirty="0">
              <a:solidFill>
                <a:srgbClr val="0147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 7023 images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5712 Training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  <a:br>
              <a:rPr lang="ar-J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410C7B-BBDC-F61C-BB95-25266E7FFF1D}"/>
              </a:ext>
            </a:extLst>
          </p:cNvPr>
          <p:cNvGrpSpPr/>
          <p:nvPr/>
        </p:nvGrpSpPr>
        <p:grpSpPr>
          <a:xfrm>
            <a:off x="-2590800" y="33551"/>
            <a:ext cx="10515600" cy="1767628"/>
            <a:chOff x="-2513334" y="-5286329"/>
            <a:chExt cx="10515600" cy="1767628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9D4CE986-0B86-74EF-6E44-2E850D16D777}"/>
                </a:ext>
              </a:extLst>
            </p:cNvPr>
            <p:cNvGrpSpPr/>
            <p:nvPr/>
          </p:nvGrpSpPr>
          <p:grpSpPr>
            <a:xfrm>
              <a:off x="14735" y="-5286329"/>
              <a:ext cx="5632007" cy="1767628"/>
              <a:chOff x="0" y="0"/>
              <a:chExt cx="4816593" cy="1079700"/>
            </a:xfrm>
            <a:solidFill>
              <a:srgbClr val="002060"/>
            </a:solidFill>
          </p:grpSpPr>
          <p:sp>
            <p:nvSpPr>
              <p:cNvPr id="20" name="Freeform 3">
                <a:extLst>
                  <a:ext uri="{FF2B5EF4-FFF2-40B4-BE49-F238E27FC236}">
                    <a16:creationId xmlns:a16="http://schemas.microsoft.com/office/drawing/2014/main" id="{7F4022EB-E43B-A82C-1230-7015F03DEE0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07970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07970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079700"/>
                    </a:lnTo>
                    <a:lnTo>
                      <a:pt x="0" y="107970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21" name="TextBox 4">
                <a:extLst>
                  <a:ext uri="{FF2B5EF4-FFF2-40B4-BE49-F238E27FC236}">
                    <a16:creationId xmlns:a16="http://schemas.microsoft.com/office/drawing/2014/main" id="{E37483F6-7076-969F-ABCD-ABA7C6A2469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816593" cy="112732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93"/>
                  </a:lnSpc>
                </a:pPr>
                <a:endParaRPr/>
              </a:p>
            </p:txBody>
          </p:sp>
        </p:grpSp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987D8B92-53F6-974C-B44D-4FB3B27D3A2D}"/>
                </a:ext>
              </a:extLst>
            </p:cNvPr>
            <p:cNvSpPr txBox="1">
              <a:spLocks/>
            </p:cNvSpPr>
            <p:nvPr/>
          </p:nvSpPr>
          <p:spPr>
            <a:xfrm>
              <a:off x="-2513334" y="-4931036"/>
              <a:ext cx="10515600" cy="1325563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Preprocessing: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518" y="12443117"/>
            <a:ext cx="6361021" cy="4240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9CE3D-FBB3-33F1-3F78-D52DEF6BEDD6}"/>
              </a:ext>
            </a:extLst>
          </p:cNvPr>
          <p:cNvSpPr txBox="1">
            <a:spLocks/>
          </p:cNvSpPr>
          <p:nvPr/>
        </p:nvSpPr>
        <p:spPr>
          <a:xfrm>
            <a:off x="20355154" y="298413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A1C7AE-C2FD-455F-541F-667B88EE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0634" y="2962076"/>
            <a:ext cx="50339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</a:rPr>
              <a:t>This dataset contains </a:t>
            </a:r>
            <a:r>
              <a:rPr lang="en-US" sz="1200" b="1" dirty="0">
                <a:solidFill>
                  <a:srgbClr val="3C4043"/>
                </a:solidFill>
                <a:latin typeface="Inter"/>
              </a:rPr>
              <a:t>7023</a:t>
            </a:r>
            <a:r>
              <a:rPr lang="en-US" sz="1200" dirty="0">
                <a:solidFill>
                  <a:srgbClr val="3C4043"/>
                </a:solidFill>
                <a:latin typeface="Inter"/>
              </a:rPr>
              <a:t> images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  <a:cs typeface="Times New Roman" panose="02020603050405020304" pitchFamily="18" charset="0"/>
              </a:rPr>
              <a:t>5712 Training</a:t>
            </a:r>
            <a:endParaRPr lang="en-US" sz="1800" dirty="0">
              <a:solidFill>
                <a:srgbClr val="3C40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2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38787E-7091-3996-324D-DB91E464F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0329" y="12001500"/>
            <a:ext cx="8114971" cy="42862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F07CFB-E218-F68B-3FE5-542CD9081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/>
          <a:stretch/>
        </p:blipFill>
        <p:spPr>
          <a:xfrm>
            <a:off x="21360381" y="1283029"/>
            <a:ext cx="6656042" cy="4128720"/>
          </a:xfrm>
          <a:prstGeom prst="rect">
            <a:avLst/>
          </a:prstGeom>
        </p:spPr>
      </p:pic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-20421599" y="13355898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>
            <a:off x="-20421600" y="13296900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7264887" y="14439245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1D6962A-033D-4224-4CF7-72B48C675C59}"/>
              </a:ext>
            </a:extLst>
          </p:cNvPr>
          <p:cNvSpPr txBox="1">
            <a:spLocks/>
          </p:cNvSpPr>
          <p:nvPr/>
        </p:nvSpPr>
        <p:spPr>
          <a:xfrm>
            <a:off x="22476034" y="-13044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34A666-33FD-12C5-8856-98F5090CE228}"/>
              </a:ext>
            </a:extLst>
          </p:cNvPr>
          <p:cNvSpPr txBox="1">
            <a:spLocks/>
          </p:cNvSpPr>
          <p:nvPr/>
        </p:nvSpPr>
        <p:spPr>
          <a:xfrm>
            <a:off x="25325499" y="-2597439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124x124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to prevent overfitting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856563-9EF1-8C53-4F1F-81F4E59A84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454" y="2229838"/>
            <a:ext cx="6097738" cy="6363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6919573" y="1718291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CDE3-64C3-2D65-E04F-BA3A7A724055}"/>
              </a:ext>
            </a:extLst>
          </p:cNvPr>
          <p:cNvGrpSpPr/>
          <p:nvPr/>
        </p:nvGrpSpPr>
        <p:grpSpPr>
          <a:xfrm>
            <a:off x="9077554" y="3752753"/>
            <a:ext cx="3430682" cy="3107026"/>
            <a:chOff x="-16375707" y="-1305847"/>
            <a:chExt cx="3430682" cy="3107026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6F4BD4AD-2D25-3FC1-012B-DB37AB01C0BF}"/>
                </a:ext>
              </a:extLst>
            </p:cNvPr>
            <p:cNvSpPr/>
            <p:nvPr/>
          </p:nvSpPr>
          <p:spPr>
            <a:xfrm>
              <a:off x="-16375707" y="-1305847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B8E666-CF9D-FD2B-5516-FD32F4DB5F7B}"/>
                </a:ext>
              </a:extLst>
            </p:cNvPr>
            <p:cNvSpPr txBox="1"/>
            <p:nvPr/>
          </p:nvSpPr>
          <p:spPr>
            <a:xfrm>
              <a:off x="-16258472" y="-536095"/>
              <a:ext cx="294604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 to 124x124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ED0701F-198E-82E2-4183-8B7AF66E4E56}"/>
              </a:ext>
            </a:extLst>
          </p:cNvPr>
          <p:cNvGrpSpPr/>
          <p:nvPr/>
        </p:nvGrpSpPr>
        <p:grpSpPr>
          <a:xfrm>
            <a:off x="10761957" y="1720585"/>
            <a:ext cx="4179750" cy="3107026"/>
            <a:chOff x="-20694804" y="1969732"/>
            <a:chExt cx="4179750" cy="3107026"/>
          </a:xfrm>
        </p:grpSpPr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9BF71E95-EDF5-3303-EFDF-1E85603D33D0}"/>
                </a:ext>
              </a:extLst>
            </p:cNvPr>
            <p:cNvSpPr/>
            <p:nvPr/>
          </p:nvSpPr>
          <p:spPr>
            <a:xfrm>
              <a:off x="-20067918" y="1969732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F50CC0-30B4-F61A-81D9-E98D3D33CA7E}"/>
                </a:ext>
              </a:extLst>
            </p:cNvPr>
            <p:cNvSpPr txBox="1"/>
            <p:nvPr/>
          </p:nvSpPr>
          <p:spPr>
            <a:xfrm>
              <a:off x="-20694804" y="3026026"/>
              <a:ext cx="41797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normalization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2F8446-7B8B-D179-60E5-58034BB8A40D}"/>
              </a:ext>
            </a:extLst>
          </p:cNvPr>
          <p:cNvGrpSpPr/>
          <p:nvPr/>
        </p:nvGrpSpPr>
        <p:grpSpPr>
          <a:xfrm>
            <a:off x="13255825" y="3570161"/>
            <a:ext cx="3971474" cy="3107026"/>
            <a:chOff x="-16695126" y="2000744"/>
            <a:chExt cx="3971474" cy="3107026"/>
          </a:xfrm>
        </p:grpSpPr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0F70281C-B9B5-7CE2-923A-C744D24AF809}"/>
                </a:ext>
              </a:extLst>
            </p:cNvPr>
            <p:cNvSpPr/>
            <p:nvPr/>
          </p:nvSpPr>
          <p:spPr>
            <a:xfrm>
              <a:off x="-16258472" y="2000744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06283C-DF8E-A8AA-8C07-0C9905293BFD}"/>
                </a:ext>
              </a:extLst>
            </p:cNvPr>
            <p:cNvSpPr txBox="1"/>
            <p:nvPr/>
          </p:nvSpPr>
          <p:spPr>
            <a:xfrm>
              <a:off x="-16695126" y="2431135"/>
              <a:ext cx="397147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3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augmentation to prevent overfitting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 :</a:t>
            </a: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5C830B8B-A588-C206-DF2A-5E85A60A6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029581" y="-2930917"/>
            <a:ext cx="954139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trainded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Models: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 Transfer Learning)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from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(Accuracy: 97%)</a:t>
            </a:r>
          </a:p>
        </p:txBody>
      </p:sp>
      <p:pic>
        <p:nvPicPr>
          <p:cNvPr id="46" name="Picture 45" descr="A brain with a diagram&#10;&#10;AI-generated content may be incorrect.">
            <a:extLst>
              <a:ext uri="{FF2B5EF4-FFF2-40B4-BE49-F238E27FC236}">
                <a16:creationId xmlns:a16="http://schemas.microsoft.com/office/drawing/2014/main" id="{536AADD0-500B-C606-0A64-6E4B32C2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8348" y="4215240"/>
            <a:ext cx="6541832" cy="43612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771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0" y="2984134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48679" y="1788497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043764" y="11097193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25630" y="120015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800000">
            <a:off x="-840973" y="435149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21272365" y="3383651"/>
            <a:ext cx="2356539" cy="289642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28656A-8D02-41B8-995C-D87F5293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65" y="6945989"/>
            <a:ext cx="3048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039A7E9-DF03-D63E-D6B7-3E923BE6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365" y="7074828"/>
            <a:ext cx="3733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 Lamea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Banan Obiedat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Nadia Khair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Saja Zreqat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476831" y="11097193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11448341" y="11397724"/>
            <a:ext cx="7210554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endParaRPr lang="ar-JO" sz="4000" b="1" dirty="0">
              <a:solidFill>
                <a:srgbClr val="0147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 7023 images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5712 Training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  <a:br>
              <a:rPr lang="ar-J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9D4CE986-0B86-74EF-6E44-2E850D16D777}"/>
              </a:ext>
            </a:extLst>
          </p:cNvPr>
          <p:cNvGrpSpPr/>
          <p:nvPr/>
        </p:nvGrpSpPr>
        <p:grpSpPr>
          <a:xfrm>
            <a:off x="10957226" y="-67452"/>
            <a:ext cx="7763065" cy="2251883"/>
            <a:chOff x="0" y="0"/>
            <a:chExt cx="4816593" cy="1079700"/>
          </a:xfrm>
          <a:solidFill>
            <a:srgbClr val="00206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F4022EB-E43B-A82C-1230-7015F03DEE05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E37483F6-7076-969F-ABCD-ABA7C6A24696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11889388" y="558375"/>
            <a:ext cx="5542375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 </a:t>
            </a:r>
          </a:p>
        </p:txBody>
      </p: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518" y="12443117"/>
            <a:ext cx="6361021" cy="4240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9CE3D-FBB3-33F1-3F78-D52DEF6BEDD6}"/>
              </a:ext>
            </a:extLst>
          </p:cNvPr>
          <p:cNvSpPr txBox="1">
            <a:spLocks/>
          </p:cNvSpPr>
          <p:nvPr/>
        </p:nvSpPr>
        <p:spPr>
          <a:xfrm>
            <a:off x="20355154" y="298413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A1C7AE-C2FD-455F-541F-667B88EE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0634" y="2962076"/>
            <a:ext cx="50339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</a:rPr>
              <a:t>This dataset contains </a:t>
            </a:r>
            <a:r>
              <a:rPr lang="en-US" sz="1200" b="1" dirty="0">
                <a:solidFill>
                  <a:srgbClr val="3C4043"/>
                </a:solidFill>
                <a:latin typeface="Inter"/>
              </a:rPr>
              <a:t>7023</a:t>
            </a:r>
            <a:r>
              <a:rPr lang="en-US" sz="1200" dirty="0">
                <a:solidFill>
                  <a:srgbClr val="3C4043"/>
                </a:solidFill>
                <a:latin typeface="Inter"/>
              </a:rPr>
              <a:t> images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  <a:cs typeface="Times New Roman" panose="02020603050405020304" pitchFamily="18" charset="0"/>
              </a:rPr>
              <a:t>5712 Training</a:t>
            </a:r>
            <a:endParaRPr lang="en-US" sz="1800" dirty="0">
              <a:solidFill>
                <a:srgbClr val="3C40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2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38787E-7091-3996-324D-DB91E464F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0329" y="12001500"/>
            <a:ext cx="8114971" cy="42862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F07CFB-E218-F68B-3FE5-542CD9081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/>
          <a:stretch/>
        </p:blipFill>
        <p:spPr>
          <a:xfrm>
            <a:off x="21360381" y="1283029"/>
            <a:ext cx="6656042" cy="4128720"/>
          </a:xfrm>
          <a:prstGeom prst="rect">
            <a:avLst/>
          </a:prstGeom>
        </p:spPr>
      </p:pic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-11121406" y="-698564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206819">
            <a:off x="-11121407" y="-757562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7878913" y="835821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1D6962A-033D-4224-4CF7-72B48C675C59}"/>
              </a:ext>
            </a:extLst>
          </p:cNvPr>
          <p:cNvSpPr txBox="1">
            <a:spLocks/>
          </p:cNvSpPr>
          <p:nvPr/>
        </p:nvSpPr>
        <p:spPr>
          <a:xfrm>
            <a:off x="22476034" y="-13044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34A666-33FD-12C5-8856-98F5090CE228}"/>
              </a:ext>
            </a:extLst>
          </p:cNvPr>
          <p:cNvSpPr txBox="1">
            <a:spLocks/>
          </p:cNvSpPr>
          <p:nvPr/>
        </p:nvSpPr>
        <p:spPr>
          <a:xfrm>
            <a:off x="25325499" y="-2597439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124x124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to prevent overfitting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856563-9EF1-8C53-4F1F-81F4E59A84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197" y="2331738"/>
            <a:ext cx="6097738" cy="6363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22120595" y="-119492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CDE3-64C3-2D65-E04F-BA3A7A724055}"/>
              </a:ext>
            </a:extLst>
          </p:cNvPr>
          <p:cNvGrpSpPr/>
          <p:nvPr/>
        </p:nvGrpSpPr>
        <p:grpSpPr>
          <a:xfrm>
            <a:off x="24278576" y="1914970"/>
            <a:ext cx="3430682" cy="3107026"/>
            <a:chOff x="-16375707" y="-1305847"/>
            <a:chExt cx="3430682" cy="3107026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6F4BD4AD-2D25-3FC1-012B-DB37AB01C0BF}"/>
                </a:ext>
              </a:extLst>
            </p:cNvPr>
            <p:cNvSpPr/>
            <p:nvPr/>
          </p:nvSpPr>
          <p:spPr>
            <a:xfrm>
              <a:off x="-16375707" y="-1305847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B8E666-CF9D-FD2B-5516-FD32F4DB5F7B}"/>
                </a:ext>
              </a:extLst>
            </p:cNvPr>
            <p:cNvSpPr txBox="1"/>
            <p:nvPr/>
          </p:nvSpPr>
          <p:spPr>
            <a:xfrm>
              <a:off x="-16258472" y="-536095"/>
              <a:ext cx="294604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 to 124x124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ED0701F-198E-82E2-4183-8B7AF66E4E56}"/>
              </a:ext>
            </a:extLst>
          </p:cNvPr>
          <p:cNvGrpSpPr/>
          <p:nvPr/>
        </p:nvGrpSpPr>
        <p:grpSpPr>
          <a:xfrm>
            <a:off x="25962979" y="-117198"/>
            <a:ext cx="4179750" cy="3107026"/>
            <a:chOff x="-20694804" y="1969732"/>
            <a:chExt cx="4179750" cy="3107026"/>
          </a:xfrm>
        </p:grpSpPr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9BF71E95-EDF5-3303-EFDF-1E85603D33D0}"/>
                </a:ext>
              </a:extLst>
            </p:cNvPr>
            <p:cNvSpPr/>
            <p:nvPr/>
          </p:nvSpPr>
          <p:spPr>
            <a:xfrm>
              <a:off x="-20067918" y="1969732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F50CC0-30B4-F61A-81D9-E98D3D33CA7E}"/>
                </a:ext>
              </a:extLst>
            </p:cNvPr>
            <p:cNvSpPr txBox="1"/>
            <p:nvPr/>
          </p:nvSpPr>
          <p:spPr>
            <a:xfrm>
              <a:off x="-20694804" y="3026026"/>
              <a:ext cx="41797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normalization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2F8446-7B8B-D179-60E5-58034BB8A40D}"/>
              </a:ext>
            </a:extLst>
          </p:cNvPr>
          <p:cNvGrpSpPr/>
          <p:nvPr/>
        </p:nvGrpSpPr>
        <p:grpSpPr>
          <a:xfrm>
            <a:off x="28456847" y="1732378"/>
            <a:ext cx="3971474" cy="3107026"/>
            <a:chOff x="-16695126" y="2000744"/>
            <a:chExt cx="3971474" cy="3107026"/>
          </a:xfrm>
        </p:grpSpPr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0F70281C-B9B5-7CE2-923A-C744D24AF809}"/>
                </a:ext>
              </a:extLst>
            </p:cNvPr>
            <p:cNvSpPr/>
            <p:nvPr/>
          </p:nvSpPr>
          <p:spPr>
            <a:xfrm>
              <a:off x="-16258472" y="2000744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06283C-DF8E-A8AA-8C07-0C9905293BFD}"/>
                </a:ext>
              </a:extLst>
            </p:cNvPr>
            <p:cNvSpPr txBox="1"/>
            <p:nvPr/>
          </p:nvSpPr>
          <p:spPr>
            <a:xfrm>
              <a:off x="-16695126" y="2431135"/>
              <a:ext cx="397147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3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augmentation to prevent overfitting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5C830B8B-A588-C206-DF2A-5E85A60A6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204" y="2684722"/>
            <a:ext cx="954139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trainded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Models: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 Transfer Learning)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from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(Accuracy: 97%)</a:t>
            </a:r>
          </a:p>
        </p:txBody>
      </p:sp>
      <p:pic>
        <p:nvPicPr>
          <p:cNvPr id="46" name="Picture 45" descr="A brain with a diagram&#10;&#10;AI-generated content may be incorrect.">
            <a:extLst>
              <a:ext uri="{FF2B5EF4-FFF2-40B4-BE49-F238E27FC236}">
                <a16:creationId xmlns:a16="http://schemas.microsoft.com/office/drawing/2014/main" id="{536AADD0-500B-C606-0A64-6E4B32C2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440" y="3333037"/>
            <a:ext cx="6541832" cy="43612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451742" y="2413689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0991018" y="918892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9451742" y="-576692"/>
            <a:ext cx="914400" cy="914400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13E7584D-4CC8-A760-CC8F-4F78E43859BA}"/>
              </a:ext>
            </a:extLst>
          </p:cNvPr>
          <p:cNvSpPr txBox="1">
            <a:spLocks/>
          </p:cNvSpPr>
          <p:nvPr/>
        </p:nvSpPr>
        <p:spPr>
          <a:xfrm>
            <a:off x="-6809532" y="-563834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Custom CNN Model</a:t>
            </a:r>
            <a:endParaRPr lang="en-US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-6809532" y="-4177840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Built from scratch using Keras</a:t>
            </a:r>
          </a:p>
          <a:p>
            <a:r>
              <a:rPr lang="en-US"/>
              <a:t>Included Conv2D, ReLU, MaxPooling, Dropout, Dense layers</a:t>
            </a:r>
          </a:p>
          <a:p>
            <a:r>
              <a:rPr lang="en-US"/>
              <a:t>Achieved 94% test accuracy</a:t>
            </a:r>
          </a:p>
          <a:p>
            <a:r>
              <a:rPr lang="en-US"/>
              <a:t>Used techniques like early stopping and data augmentation to reduce overfitting</a:t>
            </a:r>
          </a:p>
        </p:txBody>
      </p:sp>
      <p:pic>
        <p:nvPicPr>
          <p:cNvPr id="6" name="Picture 5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463DF2E1-A19E-032A-1428-4346396255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68291" y="12222308"/>
            <a:ext cx="13106400" cy="43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9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0" y="2984134"/>
            <a:ext cx="1622994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Brain Tumor Classification using Deep Learning</a:t>
            </a:r>
            <a:endParaRPr lang="en-US" sz="8000" b="1" i="1" dirty="0">
              <a:solidFill>
                <a:schemeClr val="tx2">
                  <a:lumMod val="75000"/>
                </a:schemeClr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948679" y="1788497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6348122" y="11391488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25630" y="1200150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800000">
            <a:off x="7469410" y="11780691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F369C55B-77F9-485E-64DB-DB1554245F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7" b="90613" l="9921" r="89980">
                        <a14:foregroundMark x1="45285" y1="37547" x2="48134" y2="50438"/>
                        <a14:foregroundMark x1="48134" y1="50438" x2="54715" y2="43805"/>
                        <a14:foregroundMark x1="54715" y1="43805" x2="54126" y2="41051"/>
                        <a14:foregroundMark x1="58448" y1="53817" x2="51670" y2="58573"/>
                        <a14:foregroundMark x1="51670" y1="58573" x2="40864" y2="56446"/>
                        <a14:foregroundMark x1="40864" y1="56446" x2="39194" y2="53317"/>
                        <a14:foregroundMark x1="41650" y1="45807" x2="42240" y2="51189"/>
                        <a14:foregroundMark x1="27701" y1="74468" x2="30550" y2="67459"/>
                        <a14:foregroundMark x1="34479" y1="56946" x2="38605" y2="73592"/>
                        <a14:foregroundMark x1="35167" y1="46058" x2="36542" y2="37171"/>
                        <a14:foregroundMark x1="36542" y1="37171" x2="42927" y2="22403"/>
                        <a14:foregroundMark x1="42927" y1="22403" x2="51375" y2="19274"/>
                        <a14:foregroundMark x1="51375" y1="19274" x2="65717" y2="53066"/>
                        <a14:foregroundMark x1="65717" y1="53066" x2="66405" y2="65081"/>
                        <a14:foregroundMark x1="66405" y1="65081" x2="65521" y2="67459"/>
                        <a14:foregroundMark x1="55697" y1="64956" x2="55108" y2="66834"/>
                        <a14:foregroundMark x1="44695" y1="64581" x2="44499" y2="67084"/>
                        <a14:foregroundMark x1="68566" y1="90613" x2="64244" y2="90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7" r="17525"/>
          <a:stretch/>
        </p:blipFill>
        <p:spPr>
          <a:xfrm>
            <a:off x="21272365" y="3383651"/>
            <a:ext cx="2356539" cy="289642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28656A-8D02-41B8-995C-D87F5293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65" y="6945989"/>
            <a:ext cx="3048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b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039A7E9-DF03-D63E-D6B7-3E923BE6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365" y="7074828"/>
            <a:ext cx="3733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 Lamea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Banan Obiedat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Nadia Khair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Saja Zreqat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4CB5815-0B25-2243-D4EC-0573E6B9C2CE}"/>
              </a:ext>
            </a:extLst>
          </p:cNvPr>
          <p:cNvSpPr txBox="1"/>
          <p:nvPr/>
        </p:nvSpPr>
        <p:spPr>
          <a:xfrm>
            <a:off x="2476831" y="11097193"/>
            <a:ext cx="378595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GRADUATION PROJECT – 2025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1F7D6C-A554-308A-807B-D146C795FA63}"/>
              </a:ext>
            </a:extLst>
          </p:cNvPr>
          <p:cNvSpPr txBox="1">
            <a:spLocks/>
          </p:cNvSpPr>
          <p:nvPr/>
        </p:nvSpPr>
        <p:spPr>
          <a:xfrm>
            <a:off x="11448341" y="11397724"/>
            <a:ext cx="7210554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endParaRPr lang="ar-JO" sz="4000" b="1" dirty="0">
              <a:solidFill>
                <a:srgbClr val="0147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 7023 images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5712 Training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  <a:br>
              <a:rPr lang="ar-J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147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18569101" y="-4640183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5730093" y="526356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Model</a:t>
            </a:r>
          </a:p>
        </p:txBody>
      </p:sp>
      <p:pic>
        <p:nvPicPr>
          <p:cNvPr id="25" name="Picture 24" descr="A brain and a machine&#10;&#10;AI-generated content may be incorrect.">
            <a:extLst>
              <a:ext uri="{FF2B5EF4-FFF2-40B4-BE49-F238E27FC236}">
                <a16:creationId xmlns:a16="http://schemas.microsoft.com/office/drawing/2014/main" id="{4FB47275-6936-E501-8ED1-8C109AE7B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518" y="12443117"/>
            <a:ext cx="6361021" cy="4240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9CE3D-FBB3-33F1-3F78-D52DEF6BEDD6}"/>
              </a:ext>
            </a:extLst>
          </p:cNvPr>
          <p:cNvSpPr txBox="1">
            <a:spLocks/>
          </p:cNvSpPr>
          <p:nvPr/>
        </p:nvSpPr>
        <p:spPr>
          <a:xfrm>
            <a:off x="20355154" y="298413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A1C7AE-C2FD-455F-541F-667B88EE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0634" y="2962076"/>
            <a:ext cx="50339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Brain Tumor MRI Dataset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</a:rPr>
              <a:t>This dataset contains </a:t>
            </a:r>
            <a:r>
              <a:rPr lang="en-US" sz="1200" b="1" dirty="0">
                <a:solidFill>
                  <a:srgbClr val="3C4043"/>
                </a:solidFill>
                <a:latin typeface="Inter"/>
              </a:rPr>
              <a:t>7023</a:t>
            </a:r>
            <a:r>
              <a:rPr lang="en-US" sz="1200" dirty="0">
                <a:solidFill>
                  <a:srgbClr val="3C4043"/>
                </a:solidFill>
                <a:latin typeface="Inter"/>
              </a:rPr>
              <a:t> images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dirty="0">
                <a:solidFill>
                  <a:srgbClr val="3C4043"/>
                </a:solidFill>
                <a:latin typeface="Inter"/>
                <a:cs typeface="Times New Roman" panose="02020603050405020304" pitchFamily="18" charset="0"/>
              </a:rPr>
              <a:t>5712 Training</a:t>
            </a:r>
            <a:endParaRPr lang="en-US" sz="1800" dirty="0">
              <a:solidFill>
                <a:srgbClr val="3C40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12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1311 Testing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Pituitary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Tumor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38787E-7091-3996-324D-DB91E464F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0329" y="12001500"/>
            <a:ext cx="8114971" cy="42862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F07CFB-E218-F68B-3FE5-542CD9081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/>
          <a:stretch/>
        </p:blipFill>
        <p:spPr>
          <a:xfrm>
            <a:off x="21360381" y="1283029"/>
            <a:ext cx="6656042" cy="4128720"/>
          </a:xfrm>
          <a:prstGeom prst="rect">
            <a:avLst/>
          </a:prstGeom>
        </p:spPr>
      </p:pic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88618" y="610066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206819">
            <a:off x="288617" y="551068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31111" y="2144451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1D6962A-033D-4224-4CF7-72B48C675C59}"/>
              </a:ext>
            </a:extLst>
          </p:cNvPr>
          <p:cNvSpPr txBox="1">
            <a:spLocks/>
          </p:cNvSpPr>
          <p:nvPr/>
        </p:nvSpPr>
        <p:spPr>
          <a:xfrm>
            <a:off x="22476034" y="-13044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34A666-33FD-12C5-8856-98F5090CE228}"/>
              </a:ext>
            </a:extLst>
          </p:cNvPr>
          <p:cNvSpPr txBox="1">
            <a:spLocks/>
          </p:cNvSpPr>
          <p:nvPr/>
        </p:nvSpPr>
        <p:spPr>
          <a:xfrm>
            <a:off x="25325499" y="-2597439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124x124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to prevent overfitting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856563-9EF1-8C53-4F1F-81F4E59A84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197" y="2331738"/>
            <a:ext cx="6097738" cy="6363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22120595" y="-119492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CDE3-64C3-2D65-E04F-BA3A7A724055}"/>
              </a:ext>
            </a:extLst>
          </p:cNvPr>
          <p:cNvGrpSpPr/>
          <p:nvPr/>
        </p:nvGrpSpPr>
        <p:grpSpPr>
          <a:xfrm>
            <a:off x="24278576" y="1914970"/>
            <a:ext cx="3430682" cy="3107026"/>
            <a:chOff x="-16375707" y="-1305847"/>
            <a:chExt cx="3430682" cy="3107026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6F4BD4AD-2D25-3FC1-012B-DB37AB01C0BF}"/>
                </a:ext>
              </a:extLst>
            </p:cNvPr>
            <p:cNvSpPr/>
            <p:nvPr/>
          </p:nvSpPr>
          <p:spPr>
            <a:xfrm>
              <a:off x="-16375707" y="-1305847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B8E666-CF9D-FD2B-5516-FD32F4DB5F7B}"/>
                </a:ext>
              </a:extLst>
            </p:cNvPr>
            <p:cNvSpPr txBox="1"/>
            <p:nvPr/>
          </p:nvSpPr>
          <p:spPr>
            <a:xfrm>
              <a:off x="-16258472" y="-536095"/>
              <a:ext cx="294604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 to 124x124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ED0701F-198E-82E2-4183-8B7AF66E4E56}"/>
              </a:ext>
            </a:extLst>
          </p:cNvPr>
          <p:cNvGrpSpPr/>
          <p:nvPr/>
        </p:nvGrpSpPr>
        <p:grpSpPr>
          <a:xfrm>
            <a:off x="25962979" y="-117198"/>
            <a:ext cx="4179750" cy="3107026"/>
            <a:chOff x="-20694804" y="1969732"/>
            <a:chExt cx="4179750" cy="3107026"/>
          </a:xfrm>
        </p:grpSpPr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9BF71E95-EDF5-3303-EFDF-1E85603D33D0}"/>
                </a:ext>
              </a:extLst>
            </p:cNvPr>
            <p:cNvSpPr/>
            <p:nvPr/>
          </p:nvSpPr>
          <p:spPr>
            <a:xfrm>
              <a:off x="-20067918" y="1969732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F50CC0-30B4-F61A-81D9-E98D3D33CA7E}"/>
                </a:ext>
              </a:extLst>
            </p:cNvPr>
            <p:cNvSpPr txBox="1"/>
            <p:nvPr/>
          </p:nvSpPr>
          <p:spPr>
            <a:xfrm>
              <a:off x="-20694804" y="3026026"/>
              <a:ext cx="41797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normalization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2F8446-7B8B-D179-60E5-58034BB8A40D}"/>
              </a:ext>
            </a:extLst>
          </p:cNvPr>
          <p:cNvGrpSpPr/>
          <p:nvPr/>
        </p:nvGrpSpPr>
        <p:grpSpPr>
          <a:xfrm>
            <a:off x="28456847" y="1732378"/>
            <a:ext cx="3971474" cy="3107026"/>
            <a:chOff x="-16695126" y="2000744"/>
            <a:chExt cx="3971474" cy="3107026"/>
          </a:xfrm>
        </p:grpSpPr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0F70281C-B9B5-7CE2-923A-C744D24AF809}"/>
                </a:ext>
              </a:extLst>
            </p:cNvPr>
            <p:cNvSpPr/>
            <p:nvPr/>
          </p:nvSpPr>
          <p:spPr>
            <a:xfrm>
              <a:off x="-16258472" y="2000744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06283C-DF8E-A8AA-8C07-0C9905293BFD}"/>
                </a:ext>
              </a:extLst>
            </p:cNvPr>
            <p:cNvSpPr txBox="1"/>
            <p:nvPr/>
          </p:nvSpPr>
          <p:spPr>
            <a:xfrm>
              <a:off x="-16695126" y="2431135"/>
              <a:ext cx="397147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 indent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3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augmentation to prevent overfitting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5C830B8B-A588-C206-DF2A-5E85A60A6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2559" y="1591441"/>
            <a:ext cx="954139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trainded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Models: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 Transfer Learning)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from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(Accuracy: 97%)</a:t>
            </a:r>
          </a:p>
        </p:txBody>
      </p:sp>
      <p:pic>
        <p:nvPicPr>
          <p:cNvPr id="46" name="Picture 45" descr="A brain with a diagram&#10;&#10;AI-generated content may be incorrect.">
            <a:extLst>
              <a:ext uri="{FF2B5EF4-FFF2-40B4-BE49-F238E27FC236}">
                <a16:creationId xmlns:a16="http://schemas.microsoft.com/office/drawing/2014/main" id="{536AADD0-500B-C606-0A64-6E4B32C2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2408" y="3921997"/>
            <a:ext cx="6541832" cy="43612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8282" y="3722319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9006" y="2227522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58282" y="731938"/>
            <a:ext cx="914400" cy="914400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13E7584D-4CC8-A760-CC8F-4F78E43859BA}"/>
              </a:ext>
            </a:extLst>
          </p:cNvPr>
          <p:cNvSpPr txBox="1">
            <a:spLocks/>
          </p:cNvSpPr>
          <p:nvPr/>
        </p:nvSpPr>
        <p:spPr>
          <a:xfrm>
            <a:off x="16762631" y="-64176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Model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5192021" y="1914970"/>
            <a:ext cx="12971791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Conv2D,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Dropout, Dense layers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94%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techniques like early stopping and data augmentation to reduce overfitting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096AC48A-07D1-FF05-0615-84EE0668E300}"/>
              </a:ext>
            </a:extLst>
          </p:cNvPr>
          <p:cNvSpPr txBox="1">
            <a:spLocks/>
          </p:cNvSpPr>
          <p:nvPr/>
        </p:nvSpPr>
        <p:spPr>
          <a:xfrm>
            <a:off x="-13405323" y="-4057939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VGG16 Highlights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FCFA89D-F05B-DF90-EF6A-55B7E007A0A4}"/>
              </a:ext>
            </a:extLst>
          </p:cNvPr>
          <p:cNvSpPr txBox="1">
            <a:spLocks/>
          </p:cNvSpPr>
          <p:nvPr/>
        </p:nvSpPr>
        <p:spPr>
          <a:xfrm>
            <a:off x="-13405323" y="-2597439"/>
            <a:ext cx="8585200" cy="36226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Used transfer learning and fine-tuning</a:t>
            </a:r>
          </a:p>
          <a:p>
            <a:r>
              <a:rPr lang="en-US"/>
              <a:t>Unfroze last 4 layers and added custom dense layers</a:t>
            </a:r>
          </a:p>
          <a:p>
            <a:r>
              <a:rPr lang="en-US"/>
              <a:t>Achieved 97.86% test accuracy</a:t>
            </a:r>
          </a:p>
          <a:p>
            <a:r>
              <a:rPr lang="en-US"/>
              <a:t>Slight overfitting handled with dropout and data augmentation</a:t>
            </a:r>
          </a:p>
          <a:p>
            <a:endParaRPr lang="en-US" dirty="0"/>
          </a:p>
        </p:txBody>
      </p:sp>
      <p:pic>
        <p:nvPicPr>
          <p:cNvPr id="19" name="Picture 18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EC582EB-C53E-D54A-DEEE-92740CA098C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304" y="5484317"/>
            <a:ext cx="13106400" cy="4308729"/>
          </a:xfrm>
          <a:prstGeom prst="rect">
            <a:avLst/>
          </a:prstGeom>
        </p:spPr>
      </p:pic>
      <p:pic>
        <p:nvPicPr>
          <p:cNvPr id="20" name="Picture 19" descr="A graph showing the value of a train&#10;&#10;AI-generated content may be incorrect.">
            <a:extLst>
              <a:ext uri="{FF2B5EF4-FFF2-40B4-BE49-F238E27FC236}">
                <a16:creationId xmlns:a16="http://schemas.microsoft.com/office/drawing/2014/main" id="{4D410BAF-0992-7C71-CD1C-84055B1374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9600" y="9221880"/>
            <a:ext cx="6016880" cy="4235710"/>
          </a:xfrm>
          <a:prstGeom prst="rect">
            <a:avLst/>
          </a:prstGeom>
        </p:spPr>
      </p:pic>
      <p:pic>
        <p:nvPicPr>
          <p:cNvPr id="45" name="Picture 44" descr="A graph showing the loss of a train and a train&#10;&#10;AI-generated content may be incorrect.">
            <a:extLst>
              <a:ext uri="{FF2B5EF4-FFF2-40B4-BE49-F238E27FC236}">
                <a16:creationId xmlns:a16="http://schemas.microsoft.com/office/drawing/2014/main" id="{65BA1E89-5A1F-FD9B-1424-9F8B8F3405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9600" y="13220700"/>
            <a:ext cx="6418159" cy="44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90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96356" y="-22479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971103" y="-459302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800000">
            <a:off x="8124664" y="-5639843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5730093" y="526356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Highlights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88618" y="610066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6693185">
            <a:off x="288617" y="551068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1111" y="2144451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8282" y="3722319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006" y="2227522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8282" y="731938"/>
            <a:ext cx="914400" cy="914400"/>
          </a:xfrm>
          <a:prstGeom prst="rect">
            <a:avLst/>
          </a:prstGeom>
        </p:spPr>
      </p:pic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1467207" y="5176231"/>
            <a:ext cx="818982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transfer learning and fine-tuning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Unfroze last 4 layers and added custom dense layers</a:t>
            </a:r>
            <a:endParaRPr lang="ar-J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99% Train accuracy</a:t>
            </a:r>
            <a:endParaRPr lang="ar-J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</a:t>
            </a:r>
            <a:r>
              <a:rPr lang="ar-JO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overfitting handled with dropout and data augmentation</a:t>
            </a:r>
          </a:p>
        </p:txBody>
      </p:sp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8D5325-7419-DC93-763C-FDA15EAD8C84}"/>
              </a:ext>
            </a:extLst>
          </p:cNvPr>
          <p:cNvSpPr txBox="1">
            <a:spLocks/>
          </p:cNvSpPr>
          <p:nvPr/>
        </p:nvSpPr>
        <p:spPr>
          <a:xfrm>
            <a:off x="-13890272" y="-54356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ResNet50 Highlights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C872CDD-1F81-6F91-009D-C559EA41B8FF}"/>
              </a:ext>
            </a:extLst>
          </p:cNvPr>
          <p:cNvSpPr txBox="1">
            <a:spLocks/>
          </p:cNvSpPr>
          <p:nvPr/>
        </p:nvSpPr>
        <p:spPr>
          <a:xfrm>
            <a:off x="-13890272" y="-3975100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Transfer learning with pretrained ImageNet weights</a:t>
            </a:r>
          </a:p>
          <a:p>
            <a:r>
              <a:rPr lang="en-US" dirty="0" err="1"/>
              <a:t>GlobalAveragePooling</a:t>
            </a:r>
            <a:r>
              <a:rPr lang="en-US" dirty="0"/>
              <a:t>, Dropout, L2 regularization used</a:t>
            </a:r>
          </a:p>
          <a:p>
            <a:r>
              <a:rPr lang="en-US" dirty="0"/>
              <a:t>Achieved 95.42% test accuracy</a:t>
            </a:r>
          </a:p>
          <a:p>
            <a:r>
              <a:rPr lang="en-US" dirty="0"/>
              <a:t>Strong performance with high generalization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1723" y="11521471"/>
            <a:ext cx="9944100" cy="4619625"/>
          </a:xfrm>
          <a:prstGeom prst="rect">
            <a:avLst/>
          </a:prstGeom>
        </p:spPr>
      </p:pic>
      <p:pic>
        <p:nvPicPr>
          <p:cNvPr id="3" name="Picture 2" descr="A graph showing the value of a train&#10;&#10;AI-generated content may be incorrect.">
            <a:extLst>
              <a:ext uri="{FF2B5EF4-FFF2-40B4-BE49-F238E27FC236}">
                <a16:creationId xmlns:a16="http://schemas.microsoft.com/office/drawing/2014/main" id="{588C7790-8399-F15B-78C6-B16F5AA751A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878" y="1629218"/>
            <a:ext cx="6016880" cy="4235710"/>
          </a:xfrm>
          <a:prstGeom prst="rect">
            <a:avLst/>
          </a:prstGeom>
        </p:spPr>
      </p:pic>
      <p:pic>
        <p:nvPicPr>
          <p:cNvPr id="8" name="Picture 7" descr="A graph showing the loss of a train and a train&#10;&#10;AI-generated content may be incorrect.">
            <a:extLst>
              <a:ext uri="{FF2B5EF4-FFF2-40B4-BE49-F238E27FC236}">
                <a16:creationId xmlns:a16="http://schemas.microsoft.com/office/drawing/2014/main" id="{311CE5B5-9386-9F33-56BE-444116D11E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878" y="5628038"/>
            <a:ext cx="6418159" cy="44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70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96356" y="-22479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971103" y="-459302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800000">
            <a:off x="8124664" y="-5639843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809" y="-907347"/>
            <a:ext cx="7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Yarmouk University – Information System Department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11195178" y="367096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Highlights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88618" y="610066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1973918">
            <a:off x="288617" y="551068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1111" y="2144451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8282" y="3722319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006" y="2227522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8282" y="731938"/>
            <a:ext cx="914400" cy="914400"/>
          </a:xfrm>
          <a:prstGeom prst="rect">
            <a:avLst/>
          </a:prstGeom>
        </p:spPr>
      </p:pic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5730093" y="2032856"/>
            <a:ext cx="1152270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GlobalAveragePooling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Dropout, L2 regularization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95.42%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with high generalization</a:t>
            </a:r>
          </a:p>
        </p:txBody>
      </p:sp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5795" y="5877495"/>
            <a:ext cx="9366591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645152-A282-55BB-D170-3E29F156A4D7}"/>
              </a:ext>
            </a:extLst>
          </p:cNvPr>
          <p:cNvSpPr txBox="1">
            <a:spLocks/>
          </p:cNvSpPr>
          <p:nvPr/>
        </p:nvSpPr>
        <p:spPr>
          <a:xfrm>
            <a:off x="-14198949" y="167508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 V2: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A6F0C0-5130-1786-BAB5-A1829707B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852418" y="1754055"/>
            <a:ext cx="82894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Arial" panose="020B0604020202020204" pitchFamily="34" charset="0"/>
              </a:rPr>
              <a:t>Transfer learning with pretrained ImageNet weights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Arial" panose="020B0604020202020204" pitchFamily="34" charset="0"/>
              </a:rPr>
              <a:t>Inverted residual blocks, linear bottlenecks, and depthwise convolutions used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Arial" panose="020B0604020202020204" pitchFamily="34" charset="0"/>
              </a:rPr>
              <a:t>Achieved 90.62% test accuracy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Arial" panose="020B0604020202020204" pitchFamily="34" charset="0"/>
              </a:rPr>
              <a:t>Lightweight model with strong results and low overfitting risk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6457" y="3794945"/>
            <a:ext cx="5623108" cy="2831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52418" y="3794945"/>
            <a:ext cx="5342789" cy="27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76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96356" y="-22479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971103" y="-459302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800000">
            <a:off x="8124664" y="-5639843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6409931" y="455679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 V2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88618" y="610066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288617" y="551068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1111" y="2144451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8282" y="3722319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006" y="2227522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8282" y="731938"/>
            <a:ext cx="914400" cy="914400"/>
          </a:xfrm>
          <a:prstGeom prst="rect">
            <a:avLst/>
          </a:prstGeom>
        </p:spPr>
      </p:pic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780247" y="5546718"/>
            <a:ext cx="1152270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569" y="6177226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570" y="2156136"/>
            <a:ext cx="6675808" cy="33905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D12393-42AB-984B-9C48-B8C735CA48F4}"/>
              </a:ext>
            </a:extLst>
          </p:cNvPr>
          <p:cNvSpPr txBox="1">
            <a:spLocks/>
          </p:cNvSpPr>
          <p:nvPr/>
        </p:nvSpPr>
        <p:spPr>
          <a:xfrm>
            <a:off x="-13829433" y="-3719661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Model Comparison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B1485A-4358-855C-D620-8A9D3D929C0E}"/>
              </a:ext>
            </a:extLst>
          </p:cNvPr>
          <p:cNvSpPr txBox="1">
            <a:spLocks/>
          </p:cNvSpPr>
          <p:nvPr/>
        </p:nvSpPr>
        <p:spPr>
          <a:xfrm>
            <a:off x="-15511876" y="-3404767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Custom CNN: 94% accuracy</a:t>
            </a:r>
          </a:p>
          <a:p>
            <a:r>
              <a:rPr lang="en-US" dirty="0"/>
              <a:t>ResNet50: 95.4% accuracy</a:t>
            </a:r>
          </a:p>
          <a:p>
            <a:r>
              <a:rPr lang="en-US" dirty="0"/>
              <a:t>VGG16: 97.9% accuracy</a:t>
            </a:r>
          </a:p>
          <a:p>
            <a:r>
              <a:rPr lang="en-US" dirty="0"/>
              <a:t>Each model evaluated using precision, recall, F1-score and confusion matrix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-11907152" y="3078961"/>
            <a:ext cx="3161433" cy="3948663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502708" y="3525471"/>
            <a:ext cx="2352543" cy="248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CNN: 94% accuracy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D5527D-941F-78F2-540C-31495C4BAA03}"/>
              </a:ext>
            </a:extLst>
          </p:cNvPr>
          <p:cNvGrpSpPr/>
          <p:nvPr/>
        </p:nvGrpSpPr>
        <p:grpSpPr>
          <a:xfrm>
            <a:off x="-8025599" y="3058850"/>
            <a:ext cx="3161433" cy="3968773"/>
            <a:chOff x="0" y="0"/>
            <a:chExt cx="1418473" cy="1692619"/>
          </a:xfrm>
          <a:solidFill>
            <a:srgbClr val="002060"/>
          </a:solidFill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AFFC2556-1213-9F79-2C6B-8554A84FF7F0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36C916-6E51-7805-90DD-6FD65A225A30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4A2D074F-41BC-E4EE-1276-257C90B6D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480674" y="3464170"/>
            <a:ext cx="2352543" cy="248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ResNet50: 95.4% accuracy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39D72F-30F5-279D-1047-78603993B120}"/>
              </a:ext>
            </a:extLst>
          </p:cNvPr>
          <p:cNvGrpSpPr/>
          <p:nvPr/>
        </p:nvGrpSpPr>
        <p:grpSpPr>
          <a:xfrm>
            <a:off x="-4340654" y="3147365"/>
            <a:ext cx="3161433" cy="3968773"/>
            <a:chOff x="0" y="0"/>
            <a:chExt cx="1418473" cy="1692619"/>
          </a:xfrm>
          <a:solidFill>
            <a:srgbClr val="002060"/>
          </a:solidFill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EE341EC3-F86B-9607-F769-38242135C49C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B502EE-7B73-05BF-3064-EBB5CDFB92C1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198DEC3E-FDB4-2222-3268-58A4FF0C9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36210" y="3818057"/>
            <a:ext cx="2352543" cy="248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VGG16: 97.9% accuracy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063A77-4134-B9E7-1DE7-8F512BF451BB}"/>
              </a:ext>
            </a:extLst>
          </p:cNvPr>
          <p:cNvGrpSpPr/>
          <p:nvPr/>
        </p:nvGrpSpPr>
        <p:grpSpPr>
          <a:xfrm>
            <a:off x="-15511876" y="3078961"/>
            <a:ext cx="3161433" cy="3923802"/>
            <a:chOff x="0" y="0"/>
            <a:chExt cx="1418473" cy="1692619"/>
          </a:xfrm>
          <a:solidFill>
            <a:srgbClr val="002060"/>
          </a:solidFill>
        </p:grpSpPr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2418754D-E41B-00AC-CC2E-3E7ABCD03C0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EFC6497-BEAF-6235-E5A5-06BCAD2D9D7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35" name="Rectangle 1">
            <a:extLst>
              <a:ext uri="{FF2B5EF4-FFF2-40B4-BE49-F238E27FC236}">
                <a16:creationId xmlns:a16="http://schemas.microsoft.com/office/drawing/2014/main" id="{80F57D73-0CA0-0C57-FA64-ED65414BD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511876" y="3078961"/>
            <a:ext cx="31614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model evaluated using precision, recall, F1-score and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254392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337478" y="2076224"/>
            <a:ext cx="6378979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-1136674" y="8526919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200000">
            <a:off x="16469198" y="119138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623635" y="956682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852238" y="11243481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852237" y="11184483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731" y="12777866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1902" y="14355734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626" y="12860937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21902" y="11365353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5DCCFA3-F65E-0DC9-7FBD-BC9722861120}"/>
              </a:ext>
            </a:extLst>
          </p:cNvPr>
          <p:cNvGrpSpPr/>
          <p:nvPr/>
        </p:nvGrpSpPr>
        <p:grpSpPr>
          <a:xfrm>
            <a:off x="1495263" y="3804201"/>
            <a:ext cx="3161433" cy="3948663"/>
            <a:chOff x="-11907152" y="3078961"/>
            <a:chExt cx="3161433" cy="39486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64BCE45-0960-BFF8-50E4-7560C14FD04E}"/>
                </a:ext>
              </a:extLst>
            </p:cNvPr>
            <p:cNvGrpSpPr/>
            <p:nvPr/>
          </p:nvGrpSpPr>
          <p:grpSpPr>
            <a:xfrm>
              <a:off x="-11907152" y="3078961"/>
              <a:ext cx="3161433" cy="3948663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986D6FB-470A-3508-0E3A-E5C87E28111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C071F4-4BB1-1105-FB72-360C68A4AB3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47F7CEE8-29B8-48EE-49FF-B2CCB3481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502708" y="3525471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Custom CNN: 94% accuracy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5593254" y="3794145"/>
            <a:ext cx="3161433" cy="3968773"/>
            <a:chOff x="-8025599" y="3058850"/>
            <a:chExt cx="3161433" cy="396877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3058850"/>
              <a:ext cx="3161433" cy="3968773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9691245" y="3515333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13653474" y="3816630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sp>
        <p:nvSpPr>
          <p:cNvPr id="39" name="Title 1">
            <a:extLst>
              <a:ext uri="{FF2B5EF4-FFF2-40B4-BE49-F238E27FC236}">
                <a16:creationId xmlns:a16="http://schemas.microsoft.com/office/drawing/2014/main" id="{381CA09E-0438-BEF5-EB15-2E08633A8D1C}"/>
              </a:ext>
            </a:extLst>
          </p:cNvPr>
          <p:cNvSpPr txBox="1">
            <a:spLocks/>
          </p:cNvSpPr>
          <p:nvPr/>
        </p:nvSpPr>
        <p:spPr>
          <a:xfrm>
            <a:off x="-13936681" y="-214433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 :</a:t>
            </a:r>
            <a:endParaRPr lang="en-US" b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1">
            <a:extLst>
              <a:ext uri="{FF2B5EF4-FFF2-40B4-BE49-F238E27FC236}">
                <a16:creationId xmlns:a16="http://schemas.microsoft.com/office/drawing/2014/main" id="{29EFBAB6-9EAC-994B-A604-487E1CCF3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936681" y="337675"/>
            <a:ext cx="123113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Overfitting: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Solved with dropout &amp; data augmentation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Solved using image resizing &amp; early stopping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Data: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with augmentation and transfer learning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 to add Grad-CAM for visual insights</a:t>
            </a:r>
          </a:p>
        </p:txBody>
      </p: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38615" y="4364462"/>
            <a:ext cx="6842876" cy="45619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97430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-2417607" y="2076076"/>
            <a:ext cx="10134064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10858173" y="1347145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712544" y="994942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623635" y="956682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 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852238" y="11243481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852237" y="11184483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731" y="12777866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1902" y="14355734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626" y="12860937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21902" y="11365353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673984" y="4815784"/>
            <a:ext cx="19399618" cy="4669741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544" y="5045288"/>
            <a:ext cx="12075626" cy="3649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Overfitting: Solved with dropout &amp; data augmentation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 Solved using image resizing &amp; early stopping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Data: Handled with augmentation and transfer learning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 Plan to add Grad-CAM for visual insights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21685899" y="2626790"/>
            <a:ext cx="3161433" cy="4259112"/>
            <a:chOff x="-8025599" y="2768511"/>
            <a:chExt cx="3161433" cy="42591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2768511"/>
              <a:ext cx="3161433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21495150" y="3284309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24982072" y="4046381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156" y="1013195"/>
            <a:ext cx="6100860" cy="4067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5B2335-33A2-92CB-1F04-27242151DCDA}"/>
              </a:ext>
            </a:extLst>
          </p:cNvPr>
          <p:cNvSpPr txBox="1">
            <a:spLocks/>
          </p:cNvSpPr>
          <p:nvPr/>
        </p:nvSpPr>
        <p:spPr>
          <a:xfrm>
            <a:off x="-16518628" y="-2757236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EC66FA-F99A-D83B-D534-61594F835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617198" y="19847"/>
            <a:ext cx="15008019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(CNN / ResNet50 / VGG16 / MobileNet V2)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4000" dirty="0"/>
              <a:t>Image Upload → Preprocessing → Prediction Model → Result Display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Flask, HTML/CSS, Python, TensorFlow/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on a website accessible on all devices</a:t>
            </a:r>
          </a:p>
        </p:txBody>
      </p:sp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7EB2AE19-2347-5341-C847-60CE86B2C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1" b="13076"/>
          <a:stretch/>
        </p:blipFill>
        <p:spPr>
          <a:xfrm>
            <a:off x="-15558556" y="9221035"/>
            <a:ext cx="9136287" cy="388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0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5383214" y="-1045780"/>
            <a:ext cx="10134064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10858173" y="1347145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431340" y="988361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-598629" y="-5419034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8B92-53F6-974C-B44D-4FB3B27D3A2D}"/>
              </a:ext>
            </a:extLst>
          </p:cNvPr>
          <p:cNvSpPr txBox="1">
            <a:spLocks/>
          </p:cNvSpPr>
          <p:nvPr/>
        </p:nvSpPr>
        <p:spPr>
          <a:xfrm>
            <a:off x="5597589" y="2193625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852238" y="11243481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852237" y="11184483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731" y="12777866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1902" y="14355734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626" y="12860937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21902" y="11365353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623635" y="11822553"/>
            <a:ext cx="19399618" cy="4669741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74" y="8103819"/>
            <a:ext cx="12075626" cy="157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Flask, HTML/CSS, Python, TensorFlow/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on a website accessible on all devices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21685899" y="2626790"/>
            <a:ext cx="3161433" cy="4259112"/>
            <a:chOff x="-8025599" y="2768511"/>
            <a:chExt cx="3161433" cy="42591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2768511"/>
              <a:ext cx="3161433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21495150" y="3284309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24982072" y="4046381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218" y="11559463"/>
            <a:ext cx="6100860" cy="4067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7EB2AE19-2347-5341-C847-60CE86B2C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1" b="13076"/>
          <a:stretch/>
        </p:blipFill>
        <p:spPr>
          <a:xfrm>
            <a:off x="2307435" y="3322449"/>
            <a:ext cx="13673130" cy="388617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C44BED-140F-B1A7-47F3-D0291F541D79}"/>
              </a:ext>
            </a:extLst>
          </p:cNvPr>
          <p:cNvSpPr txBox="1">
            <a:spLocks/>
          </p:cNvSpPr>
          <p:nvPr/>
        </p:nvSpPr>
        <p:spPr>
          <a:xfrm>
            <a:off x="-567309" y="371800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3F827DF-FB7C-478F-A351-FAAEB8371A05}"/>
              </a:ext>
            </a:extLst>
          </p:cNvPr>
          <p:cNvSpPr txBox="1">
            <a:spLocks/>
          </p:cNvSpPr>
          <p:nvPr/>
        </p:nvSpPr>
        <p:spPr>
          <a:xfrm>
            <a:off x="-14803704" y="-340192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Demo :</a:t>
            </a:r>
            <a:endParaRPr lang="en-US" b="1" dirty="0">
              <a:solidFill>
                <a:srgbClr val="33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6DBA6556-23CB-D2A0-DBD7-DA566E4F6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042073" y="426612"/>
            <a:ext cx="501823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+mj-cs"/>
              </a:rPr>
              <a:t>Easy to use UI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+mj-cs"/>
              </a:rPr>
              <a:t>Real-time result display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+mj-cs"/>
              </a:rPr>
              <a:t>Mobile and desktop compatibility</a:t>
            </a:r>
            <a:endParaRPr lang="ar-JO" altLang="en-US" sz="1800">
              <a:latin typeface="Times New Roman" panose="02020603050405020304" pitchFamily="18" charset="0"/>
              <a:cs typeface="+mj-c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>
                <a:cs typeface="+mj-cs"/>
              </a:rPr>
              <a:t>Simple upload form and instant result display</a:t>
            </a:r>
            <a:endParaRPr lang="ar-JO" sz="2000">
              <a:cs typeface="+mj-c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>
                <a:cs typeface="+mj-cs"/>
              </a:rPr>
              <a:t>Supports doctors, students, researchers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BE4404-326A-4D7E-46D4-75F5F1CBA49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76340" y="-2276144"/>
            <a:ext cx="7048500" cy="362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5383214" y="-1045780"/>
            <a:ext cx="10134064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10858173" y="13471458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431340" y="988361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234321" y="-5518217"/>
            <a:ext cx="8286483" cy="19111300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852238" y="11243481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852237" y="11184483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731" y="12777866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13716000" y="-6751738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1902" y="14355734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626" y="12860937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21902" y="11365353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623635" y="11822553"/>
            <a:ext cx="19399618" cy="4669741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93" y="2822928"/>
            <a:ext cx="8267330" cy="5421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 UI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 display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and desktop compatibility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upload form and instant result display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doctors, students, researchers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21685899" y="2626790"/>
            <a:ext cx="3161433" cy="4259112"/>
            <a:chOff x="-8025599" y="2768511"/>
            <a:chExt cx="3161433" cy="42591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2768511"/>
              <a:ext cx="3161433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21495150" y="3284309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24982072" y="4046381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218" y="11559463"/>
            <a:ext cx="6100860" cy="4067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7EB2AE19-2347-5341-C847-60CE86B2C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1" b="13076"/>
          <a:stretch/>
        </p:blipFill>
        <p:spPr>
          <a:xfrm>
            <a:off x="21330438" y="3290470"/>
            <a:ext cx="13673130" cy="388617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C44BED-140F-B1A7-47F3-D0291F541D79}"/>
              </a:ext>
            </a:extLst>
          </p:cNvPr>
          <p:cNvSpPr txBox="1">
            <a:spLocks/>
          </p:cNvSpPr>
          <p:nvPr/>
        </p:nvSpPr>
        <p:spPr>
          <a:xfrm>
            <a:off x="9375572" y="1497365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Demo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BE4404-326A-4D7E-46D4-75F5F1CBA4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570" y="4728024"/>
            <a:ext cx="8398107" cy="4315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A2A2D8-0675-44FE-9ACD-1F99C9AC9752}"/>
              </a:ext>
            </a:extLst>
          </p:cNvPr>
          <p:cNvSpPr txBox="1">
            <a:spLocks/>
          </p:cNvSpPr>
          <p:nvPr/>
        </p:nvSpPr>
        <p:spPr>
          <a:xfrm>
            <a:off x="-12657675" y="-157149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225B95-65AE-1723-A3BC-DCF922565ABF}"/>
              </a:ext>
            </a:extLst>
          </p:cNvPr>
          <p:cNvSpPr txBox="1">
            <a:spLocks/>
          </p:cNvSpPr>
          <p:nvPr/>
        </p:nvSpPr>
        <p:spPr>
          <a:xfrm>
            <a:off x="-12657675" y="-110990"/>
            <a:ext cx="105156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DICOM medical image format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explainability tools for doctors</a:t>
            </a:r>
            <a:endParaRPr lang="ar-J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Train on more diverse datasets for better generalization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0" name="Picture 49" descr="Several icons of different types of medical services&#10;&#10;AI-generated content may be incorrect.">
            <a:extLst>
              <a:ext uri="{FF2B5EF4-FFF2-40B4-BE49-F238E27FC236}">
                <a16:creationId xmlns:a16="http://schemas.microsoft.com/office/drawing/2014/main" id="{1D2B9048-0D92-9C6D-5FDD-BD5558412D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51398" y="4202913"/>
            <a:ext cx="6473633" cy="43157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1917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5383214" y="-1045780"/>
            <a:ext cx="10134064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-1230954" y="9459523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200000">
            <a:off x="16576070" y="417530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27950545" y="2810816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6515702" y="11957695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24324766" y="6307075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67417" y="12365690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29054093" y="3205391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4588" y="13943558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55312" y="12448761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94588" y="10953177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18980469" y="11964862"/>
            <a:ext cx="19399618" cy="4669741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7F7CEE8-29B8-48EE-49FF-B2CCB348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31" y="3050536"/>
            <a:ext cx="12075626" cy="492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DICOM medical image format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systems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explainability tools for doctors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more diverse datasets for better generalization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21685899" y="2626790"/>
            <a:ext cx="3161433" cy="4259112"/>
            <a:chOff x="-8025599" y="2768511"/>
            <a:chExt cx="3161433" cy="42591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2768511"/>
              <a:ext cx="3161433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21495150" y="3284309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24982072" y="4046381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130" y="11538096"/>
            <a:ext cx="6100860" cy="4067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7EB2AE19-2347-5341-C847-60CE86B2C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1" b="13076"/>
          <a:stretch/>
        </p:blipFill>
        <p:spPr>
          <a:xfrm>
            <a:off x="21330438" y="3290470"/>
            <a:ext cx="13673130" cy="388617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C44BED-140F-B1A7-47F3-D0291F541D79}"/>
              </a:ext>
            </a:extLst>
          </p:cNvPr>
          <p:cNvSpPr txBox="1">
            <a:spLocks/>
          </p:cNvSpPr>
          <p:nvPr/>
        </p:nvSpPr>
        <p:spPr>
          <a:xfrm>
            <a:off x="5597589" y="1097280"/>
            <a:ext cx="7092822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4BE4404-326A-4D7E-46D4-75F5F1CBA4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825" y="12368140"/>
            <a:ext cx="8398107" cy="4315755"/>
          </a:xfrm>
          <a:prstGeom prst="rect">
            <a:avLst/>
          </a:prstGeom>
        </p:spPr>
      </p:pic>
      <p:pic>
        <p:nvPicPr>
          <p:cNvPr id="50" name="Picture 49" descr="Several icons of different types of medical services&#10;&#10;AI-generated content may be incorrect.">
            <a:extLst>
              <a:ext uri="{FF2B5EF4-FFF2-40B4-BE49-F238E27FC236}">
                <a16:creationId xmlns:a16="http://schemas.microsoft.com/office/drawing/2014/main" id="{1D2B9048-0D92-9C6D-5FDD-BD5558412D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634" y="4412152"/>
            <a:ext cx="6473633" cy="43157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7507D0-096E-8FCE-3877-ABD3F0595331}"/>
              </a:ext>
            </a:extLst>
          </p:cNvPr>
          <p:cNvSpPr txBox="1"/>
          <p:nvPr/>
        </p:nvSpPr>
        <p:spPr>
          <a:xfrm>
            <a:off x="-17754678" y="3712900"/>
            <a:ext cx="708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D47FDC-2D1C-59C5-F7EB-8273D77FB0D0}"/>
              </a:ext>
            </a:extLst>
          </p:cNvPr>
          <p:cNvSpPr txBox="1"/>
          <p:nvPr/>
        </p:nvSpPr>
        <p:spPr>
          <a:xfrm>
            <a:off x="-14333630" y="8400146"/>
            <a:ext cx="7654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Supervisor: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4960A14D-8C4D-EAE4-DD89-E321CF66C1EF}"/>
              </a:ext>
            </a:extLst>
          </p:cNvPr>
          <p:cNvSpPr txBox="1"/>
          <p:nvPr/>
        </p:nvSpPr>
        <p:spPr>
          <a:xfrm>
            <a:off x="-20611729" y="1619464"/>
            <a:ext cx="20819740" cy="1894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99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THANK </a:t>
            </a:r>
            <a:r>
              <a:rPr lang="en-US" sz="9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YOUfor</a:t>
            </a:r>
            <a:r>
              <a:rPr lang="en-US" sz="99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 your attention !</a:t>
            </a: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BC41C869-D337-2233-2CE5-EB45164E4B82}"/>
              </a:ext>
            </a:extLst>
          </p:cNvPr>
          <p:cNvSpPr/>
          <p:nvPr/>
        </p:nvSpPr>
        <p:spPr>
          <a:xfrm>
            <a:off x="-16827385" y="5180789"/>
            <a:ext cx="2831478" cy="2745589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Lamea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Graphic 53" descr="Graduation cap with solid fill">
            <a:extLst>
              <a:ext uri="{FF2B5EF4-FFF2-40B4-BE49-F238E27FC236}">
                <a16:creationId xmlns:a16="http://schemas.microsoft.com/office/drawing/2014/main" id="{A5551CEF-45E9-7C44-A110-A6B5920705D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-17432940" y="4430666"/>
            <a:ext cx="2021293" cy="2145212"/>
          </a:xfrm>
          <a:prstGeom prst="rect">
            <a:avLst/>
          </a:prstGeom>
        </p:spPr>
      </p:pic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FC98A3DB-7C34-E0BC-C902-6E7EA3F822D8}"/>
              </a:ext>
            </a:extLst>
          </p:cNvPr>
          <p:cNvSpPr/>
          <p:nvPr/>
        </p:nvSpPr>
        <p:spPr>
          <a:xfrm>
            <a:off x="-13443428" y="5208317"/>
            <a:ext cx="2831478" cy="2745589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Zreqat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Graphic 56" descr="Graduation cap with solid fill">
            <a:extLst>
              <a:ext uri="{FF2B5EF4-FFF2-40B4-BE49-F238E27FC236}">
                <a16:creationId xmlns:a16="http://schemas.microsoft.com/office/drawing/2014/main" id="{09329CE7-1043-B575-EBFB-257DCB37A62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-14048983" y="4458194"/>
            <a:ext cx="2021293" cy="2145212"/>
          </a:xfrm>
          <a:prstGeom prst="rect">
            <a:avLst/>
          </a:prstGeom>
        </p:spPr>
      </p:pic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EF144233-B81E-428D-7F27-9977CAF729F4}"/>
              </a:ext>
            </a:extLst>
          </p:cNvPr>
          <p:cNvSpPr/>
          <p:nvPr/>
        </p:nvSpPr>
        <p:spPr>
          <a:xfrm>
            <a:off x="-9988762" y="5317794"/>
            <a:ext cx="2831478" cy="2745589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Nadia Khair</a:t>
            </a:r>
          </a:p>
        </p:txBody>
      </p:sp>
      <p:pic>
        <p:nvPicPr>
          <p:cNvPr id="60" name="Graphic 59" descr="Graduation cap with solid fill">
            <a:extLst>
              <a:ext uri="{FF2B5EF4-FFF2-40B4-BE49-F238E27FC236}">
                <a16:creationId xmlns:a16="http://schemas.microsoft.com/office/drawing/2014/main" id="{53B58948-CB85-7CE5-5CF0-2DEA11C19EA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-10594317" y="4567671"/>
            <a:ext cx="2021293" cy="2145212"/>
          </a:xfrm>
          <a:prstGeom prst="rect">
            <a:avLst/>
          </a:prstGeom>
        </p:spPr>
      </p:pic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23DDCCDF-74CE-B7C2-F020-515894A8D459}"/>
              </a:ext>
            </a:extLst>
          </p:cNvPr>
          <p:cNvSpPr/>
          <p:nvPr/>
        </p:nvSpPr>
        <p:spPr>
          <a:xfrm>
            <a:off x="-6640749" y="5208786"/>
            <a:ext cx="2831478" cy="2745589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Obiedat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Graphic 62" descr="Graduation cap with solid fill">
            <a:extLst>
              <a:ext uri="{FF2B5EF4-FFF2-40B4-BE49-F238E27FC236}">
                <a16:creationId xmlns:a16="http://schemas.microsoft.com/office/drawing/2014/main" id="{83607E53-7412-9535-97FD-5640B31EA64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-7246304" y="4458663"/>
            <a:ext cx="2021293" cy="214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9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5383214" y="-1045780"/>
            <a:ext cx="10134064" cy="17394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5400000">
            <a:off x="-1230954" y="9459523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200000">
            <a:off x="18270342" y="1431286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37483F6-7076-969F-ABCD-ABA7C6A24696}"/>
              </a:ext>
            </a:extLst>
          </p:cNvPr>
          <p:cNvSpPr txBox="1"/>
          <p:nvPr/>
        </p:nvSpPr>
        <p:spPr>
          <a:xfrm>
            <a:off x="27950545" y="2810816"/>
            <a:ext cx="7763065" cy="2351212"/>
          </a:xfrm>
          <a:prstGeom prst="rect">
            <a:avLst/>
          </a:prstGeom>
          <a:solidFill>
            <a:srgbClr val="002060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693"/>
              </a:lnSpc>
            </a:pPr>
            <a:endParaRPr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3731BD98-539F-92DD-9E48-E5629DF5B408}"/>
              </a:ext>
            </a:extLst>
          </p:cNvPr>
          <p:cNvSpPr/>
          <p:nvPr/>
        </p:nvSpPr>
        <p:spPr>
          <a:xfrm>
            <a:off x="26515702" y="11957695"/>
            <a:ext cx="4253731" cy="4149312"/>
          </a:xfrm>
          <a:prstGeom prst="donu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2CC15F9E-059B-36F8-2458-BD3D57161FE8}"/>
              </a:ext>
            </a:extLst>
          </p:cNvPr>
          <p:cNvSpPr/>
          <p:nvPr/>
        </p:nvSpPr>
        <p:spPr>
          <a:xfrm rot="17457293">
            <a:off x="24324766" y="6307075"/>
            <a:ext cx="4253731" cy="4208310"/>
          </a:xfrm>
          <a:prstGeom prst="blockArc">
            <a:avLst>
              <a:gd name="adj1" fmla="val 19059129"/>
              <a:gd name="adj2" fmla="val 0"/>
              <a:gd name="adj3" fmla="val 29216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25" descr="Brain with solid fill">
            <a:extLst>
              <a:ext uri="{FF2B5EF4-FFF2-40B4-BE49-F238E27FC236}">
                <a16:creationId xmlns:a16="http://schemas.microsoft.com/office/drawing/2014/main" id="{D959255A-7C98-DD5D-D196-06A4B6108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67417" y="12365690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727C754-29E9-835C-5564-B6FBD5535C00}"/>
              </a:ext>
            </a:extLst>
          </p:cNvPr>
          <p:cNvGrpSpPr/>
          <p:nvPr/>
        </p:nvGrpSpPr>
        <p:grpSpPr>
          <a:xfrm>
            <a:off x="29054093" y="3205391"/>
            <a:ext cx="3430682" cy="3107026"/>
            <a:chOff x="-20149618" y="-1366333"/>
            <a:chExt cx="3430682" cy="3107026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F430E4C6-384D-0C23-D597-C2563451FA8F}"/>
                </a:ext>
              </a:extLst>
            </p:cNvPr>
            <p:cNvSpPr/>
            <p:nvPr/>
          </p:nvSpPr>
          <p:spPr>
            <a:xfrm>
              <a:off x="-20149618" y="-1366333"/>
              <a:ext cx="3430682" cy="3107026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FB5F58-6891-D4D6-8615-7ACD700521AC}"/>
                </a:ext>
              </a:extLst>
            </p:cNvPr>
            <p:cNvSpPr txBox="1"/>
            <p:nvPr/>
          </p:nvSpPr>
          <p:spPr>
            <a:xfrm>
              <a:off x="-19907300" y="-351170"/>
              <a:ext cx="29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4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Cropping</a:t>
              </a:r>
              <a:endParaRPr lang="en-US" sz="4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283EC7BB-3ED1-5DA5-1279-75A79AA22FEA}"/>
              </a:ext>
            </a:extLst>
          </p:cNvPr>
          <p:cNvSpPr txBox="1">
            <a:spLocks/>
          </p:cNvSpPr>
          <p:nvPr/>
        </p:nvSpPr>
        <p:spPr>
          <a:xfrm>
            <a:off x="-7536497" y="-4711154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Graphic 43" descr="Statistics with solid fill">
            <a:extLst>
              <a:ext uri="{FF2B5EF4-FFF2-40B4-BE49-F238E27FC236}">
                <a16:creationId xmlns:a16="http://schemas.microsoft.com/office/drawing/2014/main" id="{F9601F10-2C63-5929-4827-6156A59CCB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4588" y="13943558"/>
            <a:ext cx="914400" cy="914400"/>
          </a:xfrm>
          <a:prstGeom prst="rect">
            <a:avLst/>
          </a:prstGeom>
        </p:spPr>
      </p:pic>
      <p:pic>
        <p:nvPicPr>
          <p:cNvPr id="47" name="Graphic 46" descr="Checklist with solid fill">
            <a:extLst>
              <a:ext uri="{FF2B5EF4-FFF2-40B4-BE49-F238E27FC236}">
                <a16:creationId xmlns:a16="http://schemas.microsoft.com/office/drawing/2014/main" id="{8FB0BC9C-CA41-424B-11B4-C713E9F26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55312" y="12448761"/>
            <a:ext cx="914400" cy="914400"/>
          </a:xfrm>
          <a:prstGeom prst="rect">
            <a:avLst/>
          </a:prstGeom>
        </p:spPr>
      </p:pic>
      <p:pic>
        <p:nvPicPr>
          <p:cNvPr id="49" name="Graphic 48" descr="Presentation with bar chart with solid fill">
            <a:extLst>
              <a:ext uri="{FF2B5EF4-FFF2-40B4-BE49-F238E27FC236}">
                <a16:creationId xmlns:a16="http://schemas.microsoft.com/office/drawing/2014/main" id="{E7EB1BD0-84EB-34E3-FA74-B644CD32F7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94588" y="10953177"/>
            <a:ext cx="914400" cy="914400"/>
          </a:xfrm>
          <a:prstGeom prst="rect">
            <a:avLst/>
          </a:prstGeom>
        </p:spPr>
      </p:pic>
      <p:pic>
        <p:nvPicPr>
          <p:cNvPr id="53" name="Picture 5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142DB61-30BA-FA02-7248-28DA85DF7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0" y="2313243"/>
            <a:ext cx="14658168" cy="4646951"/>
          </a:xfrm>
          <a:prstGeom prst="rect">
            <a:avLst/>
          </a:prstGeom>
        </p:spPr>
      </p:pic>
      <p:pic>
        <p:nvPicPr>
          <p:cNvPr id="43" name="Picture 4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A37694D-22B3-A236-C399-10BB698394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403" y="6094698"/>
            <a:ext cx="7976199" cy="3750970"/>
          </a:xfrm>
          <a:prstGeom prst="rect">
            <a:avLst/>
          </a:prstGeom>
        </p:spPr>
      </p:pic>
      <p:pic>
        <p:nvPicPr>
          <p:cNvPr id="48" name="Picture 47" descr="A graph with a line graph&#10;&#10;AI-generated content may be incorrect.">
            <a:extLst>
              <a:ext uri="{FF2B5EF4-FFF2-40B4-BE49-F238E27FC236}">
                <a16:creationId xmlns:a16="http://schemas.microsoft.com/office/drawing/2014/main" id="{5ABC45A2-C6AB-D6DE-0BFD-709491A0D9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3960" y="1619464"/>
            <a:ext cx="7954642" cy="3786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044B5B-50E3-B6A9-F53F-99EB3A1A58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79494" y="5234419"/>
            <a:ext cx="93665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E9D50-E67C-FFFA-DBE7-E603C74370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94" y="5949915"/>
            <a:ext cx="6535809" cy="3291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FCCB6-CC86-BA9F-8B03-A6A5F7464F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699" y="2122766"/>
            <a:ext cx="6675808" cy="33905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BCE45-0960-BFF8-50E4-7560C14FD04E}"/>
              </a:ext>
            </a:extLst>
          </p:cNvPr>
          <p:cNvGrpSpPr/>
          <p:nvPr/>
        </p:nvGrpSpPr>
        <p:grpSpPr>
          <a:xfrm>
            <a:off x="18980469" y="11964862"/>
            <a:ext cx="19399618" cy="4669741"/>
            <a:chOff x="0" y="0"/>
            <a:chExt cx="1418473" cy="1692619"/>
          </a:xfrm>
          <a:solidFill>
            <a:srgbClr val="00206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986D6FB-470A-3508-0E3A-E5C87E281112}"/>
                </a:ext>
              </a:extLst>
            </p:cNvPr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071F4-4BB1-1105-FB72-360C68A4AB3D}"/>
                </a:ext>
              </a:extLst>
            </p:cNvPr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D967873-46DA-6841-8F28-3182B7C1AA47}"/>
              </a:ext>
            </a:extLst>
          </p:cNvPr>
          <p:cNvGrpSpPr/>
          <p:nvPr/>
        </p:nvGrpSpPr>
        <p:grpSpPr>
          <a:xfrm>
            <a:off x="21685899" y="2626790"/>
            <a:ext cx="3161433" cy="4259112"/>
            <a:chOff x="-8025599" y="2768511"/>
            <a:chExt cx="3161433" cy="42591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BD5527D-941F-78F2-540C-31495C4BAA03}"/>
                </a:ext>
              </a:extLst>
            </p:cNvPr>
            <p:cNvGrpSpPr/>
            <p:nvPr/>
          </p:nvGrpSpPr>
          <p:grpSpPr>
            <a:xfrm>
              <a:off x="-8025599" y="2768511"/>
              <a:ext cx="3161433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AFFC2556-1213-9F79-2C6B-8554A84FF7F0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6C916-6E51-7805-90DD-6FD65A225A30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A2D074F-41BC-E4EE-1276-257C90B6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80674" y="3464170"/>
              <a:ext cx="2352543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ResNet50: 95.4% accuracy</a:t>
              </a:r>
            </a:p>
          </p:txBody>
        </p:sp>
      </p:grp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2DC3DC5-01E9-417C-66BE-19836BAE1B12}"/>
              </a:ext>
            </a:extLst>
          </p:cNvPr>
          <p:cNvSpPr txBox="1">
            <a:spLocks/>
          </p:cNvSpPr>
          <p:nvPr/>
        </p:nvSpPr>
        <p:spPr>
          <a:xfrm>
            <a:off x="21281958" y="5353964"/>
            <a:ext cx="11027887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pretrained ImageNet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residual blocks, linear bottlenecks,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90.62% test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strong results and low overfitting risk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5CE6-73AA-E907-3BF8-CF08CE4FAF21}"/>
              </a:ext>
            </a:extLst>
          </p:cNvPr>
          <p:cNvGrpSpPr/>
          <p:nvPr/>
        </p:nvGrpSpPr>
        <p:grpSpPr>
          <a:xfrm>
            <a:off x="21495150" y="3284309"/>
            <a:ext cx="3025671" cy="4259112"/>
            <a:chOff x="-3292062" y="3442647"/>
            <a:chExt cx="3025671" cy="42591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239D72F-30F5-279D-1047-78603993B120}"/>
                </a:ext>
              </a:extLst>
            </p:cNvPr>
            <p:cNvGrpSpPr/>
            <p:nvPr/>
          </p:nvGrpSpPr>
          <p:grpSpPr>
            <a:xfrm>
              <a:off x="-3292062" y="3442647"/>
              <a:ext cx="3025671" cy="4259112"/>
              <a:chOff x="0" y="-123825"/>
              <a:chExt cx="1418473" cy="1816444"/>
            </a:xfrm>
            <a:solidFill>
              <a:srgbClr val="002060"/>
            </a:solidFill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EE341EC3-F86B-9607-F769-38242135C49C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B502EE-7B73-05BF-3064-EBB5CDFB92C1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198DEC3E-FDB4-2222-3268-58A4FF0C9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4986" y="4403678"/>
              <a:ext cx="2251518" cy="2485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VGG16: 97.9% accuracy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6BB17-632D-D535-6E06-DE0BDC3885FC}"/>
              </a:ext>
            </a:extLst>
          </p:cNvPr>
          <p:cNvGrpSpPr/>
          <p:nvPr/>
        </p:nvGrpSpPr>
        <p:grpSpPr>
          <a:xfrm>
            <a:off x="24982072" y="4046381"/>
            <a:ext cx="3161433" cy="3923802"/>
            <a:chOff x="-15511876" y="3078961"/>
            <a:chExt cx="3161433" cy="39238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063A77-4134-B9E7-1DE7-8F512BF451BB}"/>
                </a:ext>
              </a:extLst>
            </p:cNvPr>
            <p:cNvGrpSpPr/>
            <p:nvPr/>
          </p:nvGrpSpPr>
          <p:grpSpPr>
            <a:xfrm>
              <a:off x="-15511876" y="3078961"/>
              <a:ext cx="3161433" cy="3923802"/>
              <a:chOff x="0" y="0"/>
              <a:chExt cx="1418473" cy="1692619"/>
            </a:xfrm>
            <a:solidFill>
              <a:srgbClr val="002060"/>
            </a:solidFill>
          </p:grpSpPr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418754D-E41B-00AC-CC2E-3E7ABCD03C02}"/>
                  </a:ext>
                </a:extLst>
              </p:cNvPr>
              <p:cNvSpPr/>
              <p:nvPr/>
            </p:nvSpPr>
            <p:spPr>
              <a:xfrm>
                <a:off x="0" y="0"/>
                <a:ext cx="1418473" cy="1692619"/>
              </a:xfrm>
              <a:custGeom>
                <a:avLst/>
                <a:gdLst/>
                <a:ahLst/>
                <a:cxnLst/>
                <a:rect l="l" t="t" r="r" b="b"/>
                <a:pathLst>
                  <a:path w="1418473" h="1692619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1619308"/>
                    </a:lnTo>
                    <a:cubicBezTo>
                      <a:pt x="1418473" y="1638751"/>
                      <a:pt x="1410749" y="1657398"/>
                      <a:pt x="1397000" y="1671147"/>
                    </a:cubicBezTo>
                    <a:cubicBezTo>
                      <a:pt x="1383252" y="1684896"/>
                      <a:pt x="1364605" y="1692619"/>
                      <a:pt x="1345161" y="1692619"/>
                    </a:cubicBezTo>
                    <a:lnTo>
                      <a:pt x="73311" y="1692619"/>
                    </a:lnTo>
                    <a:cubicBezTo>
                      <a:pt x="32823" y="1692619"/>
                      <a:pt x="0" y="1659797"/>
                      <a:pt x="0" y="1619308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FC6497-BEAF-6235-E5A5-06BCAD2D9D7D}"/>
                  </a:ext>
                </a:extLst>
              </p:cNvPr>
              <p:cNvSpPr txBox="1"/>
              <p:nvPr/>
            </p:nvSpPr>
            <p:spPr>
              <a:xfrm>
                <a:off x="0" y="-123825"/>
                <a:ext cx="1418473" cy="181644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79"/>
                  </a:lnSpc>
                </a:pPr>
                <a:endParaRPr/>
              </a:p>
            </p:txBody>
          </p:sp>
        </p:grpSp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F57D73-0CA0-0C57-FA64-ED65414B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11876" y="3078961"/>
              <a:ext cx="3161433" cy="3416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model evaluated using precision, recall, F1-score and confusion matrix</a:t>
              </a:r>
            </a:p>
          </p:txBody>
        </p:sp>
      </p:grpSp>
      <p:pic>
        <p:nvPicPr>
          <p:cNvPr id="45" name="Picture 44" descr="A brain diagram with text and icons&#10;&#10;AI-generated content may be incorrect.">
            <a:extLst>
              <a:ext uri="{FF2B5EF4-FFF2-40B4-BE49-F238E27FC236}">
                <a16:creationId xmlns:a16="http://schemas.microsoft.com/office/drawing/2014/main" id="{DBC382D6-BE3D-4772-91C4-02E27E98F1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130" y="11538096"/>
            <a:ext cx="6100860" cy="4067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 descr="A diagram of a process&#10;&#10;AI-generated content may be incorrect.">
            <a:extLst>
              <a:ext uri="{FF2B5EF4-FFF2-40B4-BE49-F238E27FC236}">
                <a16:creationId xmlns:a16="http://schemas.microsoft.com/office/drawing/2014/main" id="{7EB2AE19-2347-5341-C847-60CE86B2C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1" b="13076"/>
          <a:stretch/>
        </p:blipFill>
        <p:spPr>
          <a:xfrm>
            <a:off x="21330438" y="3290470"/>
            <a:ext cx="13673130" cy="38861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4BE4404-326A-4D7E-46D4-75F5F1CBA4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825" y="12368140"/>
            <a:ext cx="8398107" cy="43157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7507D0-096E-8FCE-3877-ABD3F0595331}"/>
              </a:ext>
            </a:extLst>
          </p:cNvPr>
          <p:cNvSpPr txBox="1"/>
          <p:nvPr/>
        </p:nvSpPr>
        <p:spPr>
          <a:xfrm>
            <a:off x="474282" y="3433720"/>
            <a:ext cx="708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D47FDC-2D1C-59C5-F7EB-8273D77FB0D0}"/>
              </a:ext>
            </a:extLst>
          </p:cNvPr>
          <p:cNvSpPr txBox="1"/>
          <p:nvPr/>
        </p:nvSpPr>
        <p:spPr>
          <a:xfrm>
            <a:off x="5584970" y="8411230"/>
            <a:ext cx="7654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Supervisor: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Ali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Malkawi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4960A14D-8C4D-EAE4-DD89-E321CF66C1EF}"/>
              </a:ext>
            </a:extLst>
          </p:cNvPr>
          <p:cNvSpPr txBox="1"/>
          <p:nvPr/>
        </p:nvSpPr>
        <p:spPr>
          <a:xfrm>
            <a:off x="-1119656" y="824224"/>
            <a:ext cx="20819740" cy="1894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99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Thank You</a:t>
            </a:r>
            <a:r>
              <a:rPr lang="ar-JO" sz="99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 </a:t>
            </a:r>
            <a:r>
              <a:rPr lang="en-US" sz="99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For Your Attention 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1BCC9E-EE56-E315-576A-9E7669F37A58}"/>
              </a:ext>
            </a:extLst>
          </p:cNvPr>
          <p:cNvGrpSpPr/>
          <p:nvPr/>
        </p:nvGrpSpPr>
        <p:grpSpPr>
          <a:xfrm>
            <a:off x="1684614" y="4383094"/>
            <a:ext cx="3437033" cy="3495712"/>
            <a:chOff x="-17432940" y="4430666"/>
            <a:chExt cx="3437033" cy="3495712"/>
          </a:xfrm>
        </p:grpSpPr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BC41C869-D337-2233-2CE5-EB45164E4B82}"/>
                </a:ext>
              </a:extLst>
            </p:cNvPr>
            <p:cNvSpPr/>
            <p:nvPr/>
          </p:nvSpPr>
          <p:spPr>
            <a:xfrm>
              <a:off x="-16827385" y="5180789"/>
              <a:ext cx="2831478" cy="274558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Saba </a:t>
              </a:r>
              <a:r>
                <a:rPr lang="en-US" sz="36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Lamea</a:t>
              </a:r>
              <a:endPara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4" name="Graphic 53" descr="Graduation cap with solid fill">
              <a:extLst>
                <a:ext uri="{FF2B5EF4-FFF2-40B4-BE49-F238E27FC236}">
                  <a16:creationId xmlns:a16="http://schemas.microsoft.com/office/drawing/2014/main" id="{A5551CEF-45E9-7C44-A110-A6B592070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17432940" y="4430666"/>
              <a:ext cx="2021293" cy="214521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E01F583-01D7-D7BB-075C-21A8EAEBA4F9}"/>
              </a:ext>
            </a:extLst>
          </p:cNvPr>
          <p:cNvGrpSpPr/>
          <p:nvPr/>
        </p:nvGrpSpPr>
        <p:grpSpPr>
          <a:xfrm>
            <a:off x="5194944" y="4382055"/>
            <a:ext cx="3437033" cy="3495712"/>
            <a:chOff x="-14048983" y="4458194"/>
            <a:chExt cx="3437033" cy="3495712"/>
          </a:xfrm>
        </p:grpSpPr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C98A3DB-7C34-E0BC-C902-6E7EA3F822D8}"/>
                </a:ext>
              </a:extLst>
            </p:cNvPr>
            <p:cNvSpPr/>
            <p:nvPr/>
          </p:nvSpPr>
          <p:spPr>
            <a:xfrm>
              <a:off x="-13443428" y="5208317"/>
              <a:ext cx="2831478" cy="274558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Saja </a:t>
              </a:r>
              <a:r>
                <a:rPr lang="en-US" sz="36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Zreqat</a:t>
              </a:r>
              <a:endPara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7" name="Graphic 56" descr="Graduation cap with solid fill">
              <a:extLst>
                <a:ext uri="{FF2B5EF4-FFF2-40B4-BE49-F238E27FC236}">
                  <a16:creationId xmlns:a16="http://schemas.microsoft.com/office/drawing/2014/main" id="{09329CE7-1043-B575-EBFB-257DCB37A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14048983" y="4458194"/>
              <a:ext cx="2021293" cy="214521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39BB1BF-5ECC-C63F-0AB5-E5B2305437A3}"/>
              </a:ext>
            </a:extLst>
          </p:cNvPr>
          <p:cNvGrpSpPr/>
          <p:nvPr/>
        </p:nvGrpSpPr>
        <p:grpSpPr>
          <a:xfrm>
            <a:off x="8806526" y="4451354"/>
            <a:ext cx="3437033" cy="3495712"/>
            <a:chOff x="-10594317" y="4567671"/>
            <a:chExt cx="3437033" cy="3495712"/>
          </a:xfrm>
        </p:grpSpPr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EF144233-B81E-428D-7F27-9977CAF729F4}"/>
                </a:ext>
              </a:extLst>
            </p:cNvPr>
            <p:cNvSpPr/>
            <p:nvPr/>
          </p:nvSpPr>
          <p:spPr>
            <a:xfrm>
              <a:off x="-9988762" y="5317794"/>
              <a:ext cx="2831478" cy="274558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Nadia Khair</a:t>
              </a:r>
            </a:p>
          </p:txBody>
        </p:sp>
        <p:pic>
          <p:nvPicPr>
            <p:cNvPr id="60" name="Graphic 59" descr="Graduation cap with solid fill">
              <a:extLst>
                <a:ext uri="{FF2B5EF4-FFF2-40B4-BE49-F238E27FC236}">
                  <a16:creationId xmlns:a16="http://schemas.microsoft.com/office/drawing/2014/main" id="{53B58948-CB85-7CE5-5CF0-2DEA11C1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10594317" y="4567671"/>
              <a:ext cx="2021293" cy="2145212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D086623-7BF5-A236-A4D1-6E8AB955CAD3}"/>
              </a:ext>
            </a:extLst>
          </p:cNvPr>
          <p:cNvGrpSpPr/>
          <p:nvPr/>
        </p:nvGrpSpPr>
        <p:grpSpPr>
          <a:xfrm>
            <a:off x="12415448" y="4382055"/>
            <a:ext cx="3437033" cy="3495712"/>
            <a:chOff x="-7246304" y="4458663"/>
            <a:chExt cx="3437033" cy="3495712"/>
          </a:xfrm>
        </p:grpSpPr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23DDCCDF-74CE-B7C2-F020-515894A8D459}"/>
                </a:ext>
              </a:extLst>
            </p:cNvPr>
            <p:cNvSpPr/>
            <p:nvPr/>
          </p:nvSpPr>
          <p:spPr>
            <a:xfrm>
              <a:off x="-6640749" y="5208786"/>
              <a:ext cx="2831478" cy="274558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Banan </a:t>
              </a:r>
              <a:r>
                <a:rPr lang="en-US" sz="36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Obiedat</a:t>
              </a:r>
              <a:endPara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Graphic 62" descr="Graduation cap with solid fill">
              <a:extLst>
                <a:ext uri="{FF2B5EF4-FFF2-40B4-BE49-F238E27FC236}">
                  <a16:creationId xmlns:a16="http://schemas.microsoft.com/office/drawing/2014/main" id="{83607E53-7412-9535-97FD-5640B31EA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7246304" y="4458663"/>
              <a:ext cx="2021293" cy="2145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00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1675</Words>
  <Application>Microsoft Office PowerPoint</Application>
  <PresentationFormat>Custom</PresentationFormat>
  <Paragraphs>399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Cormorant Garamond Bold Italics</vt:lpstr>
      <vt:lpstr>Times New Roman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user</dc:creator>
  <cp:lastModifiedBy>Sondos Mostafa</cp:lastModifiedBy>
  <cp:revision>7</cp:revision>
  <dcterms:created xsi:type="dcterms:W3CDTF">2006-08-16T00:00:00Z</dcterms:created>
  <dcterms:modified xsi:type="dcterms:W3CDTF">2025-05-31T21:29:49Z</dcterms:modified>
  <dc:identifier>DAGoxp676BE</dc:identifier>
</cp:coreProperties>
</file>